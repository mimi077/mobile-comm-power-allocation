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3" r:id="rId15"/>
    <p:sldId id="271" r:id="rId16"/>
    <p:sldId id="272" r:id="rId1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76470588200001"/>
          <c:y val="0.14000000000000001"/>
          <c:w val="0.85882352941200002"/>
          <c:h val="0.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均匀分配 Uniform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200">
                    <a:solidFill>
                      <a:srgbClr val="2B2F36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30 km/h</c:v>
                </c:pt>
                <c:pt idx="1">
                  <c:v>120 km/h</c:v>
                </c:pt>
                <c:pt idx="2">
                  <c:v>350 km/h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14.01</c:v>
                </c:pt>
                <c:pt idx="1">
                  <c:v>12.77</c:v>
                </c:pt>
                <c:pt idx="2">
                  <c:v>8.56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F1-40C4-94DD-4EA53D4A19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注水 Water-filling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zh-CN" sz="1200">
                    <a:solidFill>
                      <a:srgbClr val="2B2F36"/>
                    </a:solidFill>
                    <a:latin typeface="Arial"/>
                    <a:ea typeface="Microsoft YaHei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30 km/h</c:v>
                </c:pt>
                <c:pt idx="1">
                  <c:v>120 km/h</c:v>
                </c:pt>
                <c:pt idx="2">
                  <c:v>350 km/h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15.39</c:v>
                </c:pt>
                <c:pt idx="1">
                  <c:v>14.24</c:v>
                </c:pt>
                <c:pt idx="2">
                  <c:v>10.35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F1-40C4-94DD-4EA53D4A198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4"/>
        <c:overlap val="-38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rgbClr val="5C6672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2B2F36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8"/>
          <c:min val="0"/>
        </c:scaling>
        <c:delete val="0"/>
        <c:axPos val="l"/>
        <c:majorGridlines>
          <c:spPr>
            <a:ln w="6350" cap="flat" cmpd="sng" algn="ctr">
              <a:solidFill>
                <a:srgbClr val="D9DEE4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5C6672"/>
            </a:solidFill>
            <a:round/>
          </a:ln>
        </c:spPr>
        <c:txPr>
          <a:bodyPr/>
          <a:lstStyle/>
          <a:p>
            <a:pPr>
              <a:defRPr lang="zh-CN" sz="1200">
                <a:solidFill>
                  <a:srgbClr val="5C6672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  <c:crossBetween val="between"/>
        <c:majorUnit val="3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lang="zh-CN" sz="1200">
              <a:solidFill>
                <a:srgbClr val="2B2F36"/>
              </a:solidFill>
              <a:latin typeface="Arial"/>
              <a:ea typeface="Microsoft YaHei"/>
              <a:cs typeface="Arial"/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lang="zh-CN" sz="1200">
          <a:solidFill>
            <a:srgbClr val="2B2F36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位老师、各位同学，今天我汇报的项目是高速移动场景下的时隙功率分配。问题来自高铁蜂窝通信：列车高速经过接收节点时，信道在秒级时间内剧烈变化，发射功率应该按时隙怎么分，才能最大化整条轨迹的吞吐量。我们把它做成了一套完整实验：均匀分配作为下界，闭式注水作为非因果上界，再加一个只用当前信道信息的因果策略，在 30、120、350 公里每小时三个速度下对比。整场报告围绕封面这条不等式展开：均匀小于因果策略、因果策略不超过注水。后面会看到它在什么条件下成立、什么条件下被打破，以及背后的物理原因。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907021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ower-control-hs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10/26/2026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ower-control-hs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10/26/2026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7.png"/><Relationship Id="rId5" Type="http://schemas.openxmlformats.org/officeDocument/2006/relationships/image" Target="../media/image110.png"/><Relationship Id="rId10" Type="http://schemas.openxmlformats.org/officeDocument/2006/relationships/image" Target="../media/image16.png"/><Relationship Id="rId4" Type="http://schemas.openxmlformats.org/officeDocument/2006/relationships/image" Target="../media/image10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>
            <a:extLst>
              <a:ext uri="{FF2B5EF4-FFF2-40B4-BE49-F238E27FC236}">
                <a16:creationId xmlns:a16="http://schemas.microsoft.com/office/drawing/2014/main" id="{9F47094A-CC05-14A5-E664-72B818AF4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2"/>
          <p:cNvSpPr/>
          <p:nvPr/>
        </p:nvSpPr>
        <p:spPr>
          <a:xfrm>
            <a:off x="609600" y="533400"/>
            <a:ext cx="95250" cy="95250"/>
          </a:xfrm>
          <a:prstGeom prst="rect">
            <a:avLst/>
          </a:prstGeom>
          <a:solidFill>
            <a:srgbClr val="E8825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94766" y="501650"/>
            <a:ext cx="12204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组会汇报 · 2026-10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1549400"/>
            <a:ext cx="7913370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1A3A5C"/>
                </a:solidFill>
                <a:latin typeface="Arial"/>
                <a:ea typeface="Microsoft YaHei"/>
                <a:cs typeface="Arial"/>
              </a:rPr>
              <a:t>高速移动场景的时隙功率分配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1218" y="2387600"/>
            <a:ext cx="564376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均匀分配 · 注水上界 · 因果学习策略 —— 三速度对比实验</a:t>
            </a:r>
          </a:p>
        </p:txBody>
      </p:sp>
      <p:grpSp>
        <p:nvGrpSpPr>
          <p:cNvPr id="27" name="circle-icons"/>
          <p:cNvGrpSpPr/>
          <p:nvPr/>
        </p:nvGrpSpPr>
        <p:grpSpPr>
          <a:xfrm>
            <a:off x="1138382" y="2746588"/>
            <a:ext cx="4633768" cy="1391793"/>
            <a:chOff x="1162050" y="3790950"/>
            <a:chExt cx="4633768" cy="1391793"/>
          </a:xfrm>
        </p:grpSpPr>
        <p:sp>
          <p:nvSpPr>
            <p:cNvPr id="6" name="Ellipse 6"/>
            <p:cNvSpPr/>
            <p:nvPr/>
          </p:nvSpPr>
          <p:spPr>
            <a:xfrm>
              <a:off x="1162050" y="3790950"/>
              <a:ext cx="800100" cy="800100"/>
            </a:xfrm>
            <a:prstGeom prst="ellipse">
              <a:avLst/>
            </a:prstGeom>
            <a:solidFill>
              <a:srgbClr val="5B9BD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390650" y="4076700"/>
              <a:ext cx="342900" cy="571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390650" y="4210050"/>
              <a:ext cx="342900" cy="571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390650" y="4343400"/>
              <a:ext cx="342900" cy="571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10996" y="47244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均匀分配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3292" y="499110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简单基线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067050" y="3790950"/>
              <a:ext cx="800100" cy="8001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219450" y="3943350"/>
              <a:ext cx="495300" cy="4953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  <a:custDash>
                <a:ds d="200000" sp="133333"/>
              </a:custDash>
            </a:ln>
          </p:spPr>
        </p:sp>
        <p:sp>
          <p:nvSpPr>
            <p:cNvPr id="14" name="Ellipse 14"/>
            <p:cNvSpPr/>
            <p:nvPr/>
          </p:nvSpPr>
          <p:spPr>
            <a:xfrm>
              <a:off x="3371850" y="4095750"/>
              <a:ext cx="190500" cy="190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3467100" y="37909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467100" y="44386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067050" y="4191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714750" y="41910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43682" y="4724400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因果学习策略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62744" y="4991100"/>
              <a:ext cx="8087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应对过时 CSI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4972050" y="3790950"/>
              <a:ext cx="800100" cy="800100"/>
            </a:xfrm>
            <a:prstGeom prst="ellipse">
              <a:avLst/>
            </a:prstGeom>
            <a:solidFill>
              <a:srgbClr val="70AD4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067300" y="4267200"/>
              <a:ext cx="609600" cy="133350"/>
            </a:xfrm>
            <a:prstGeom prst="rect">
              <a:avLst/>
            </a:prstGeom>
            <a:solidFill>
              <a:srgbClr val="FFFFFF">
                <a:alpha val="55000"/>
              </a:srgbClr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5067300" y="4210050"/>
              <a:ext cx="609600" cy="95250"/>
            </a:xfrm>
            <a:custGeom>
              <a:avLst/>
              <a:gdLst/>
              <a:ahLst/>
              <a:cxnLst/>
              <a:rect l="l" t="t" r="r" b="b"/>
              <a:pathLst>
                <a:path w="609600" h="95250">
                  <a:moveTo>
                    <a:pt x="0" y="95250"/>
                  </a:moveTo>
                  <a:lnTo>
                    <a:pt x="114300" y="19050"/>
                  </a:lnTo>
                  <a:lnTo>
                    <a:pt x="228600" y="76200"/>
                  </a:lnTo>
                  <a:lnTo>
                    <a:pt x="342900" y="0"/>
                  </a:lnTo>
                  <a:lnTo>
                    <a:pt x="457200" y="57150"/>
                  </a:lnTo>
                  <a:lnTo>
                    <a:pt x="609600" y="1905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5067300" y="434340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20996" y="47244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注水上界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48382" y="4991100"/>
              <a:ext cx="8474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全程 CSI 已知</a:t>
              </a:r>
            </a:p>
          </p:txBody>
        </p:sp>
      </p:grpSp>
      <p:grpSp>
        <p:nvGrpSpPr>
          <p:cNvPr id="30" name="footer-left"/>
          <p:cNvGrpSpPr/>
          <p:nvPr/>
        </p:nvGrpSpPr>
        <p:grpSpPr>
          <a:xfrm>
            <a:off x="579551" y="712150"/>
            <a:ext cx="2540031" cy="409233"/>
            <a:chOff x="604266" y="6159500"/>
            <a:chExt cx="2540031" cy="409233"/>
          </a:xfrm>
        </p:grpSpPr>
        <p:sp>
          <p:nvSpPr>
            <p:cNvPr id="28" name="TextBox 28"/>
            <p:cNvSpPr txBox="1"/>
            <p:nvPr/>
          </p:nvSpPr>
          <p:spPr>
            <a:xfrm>
              <a:off x="604266" y="6159500"/>
              <a:ext cx="25400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📎 项目：mobile-comm-power-allocation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4266" y="6407150"/>
              <a:ext cx="91050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✏️ 作者：mi</a:t>
              </a:r>
              <a:r>
                <a:rPr lang="en-US" alt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mi</a:t>
              </a:r>
              <a:endPara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745157" y="6305550"/>
            <a:ext cx="18421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高速铁路场景 · 时隙级功率控制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604266" y="520700"/>
            <a:ext cx="10978134" cy="288925"/>
            <a:chOff x="604266" y="520700"/>
            <a:chExt cx="10978134" cy="28892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20700"/>
              <a:ext cx="11356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P02 · 背景与动机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94360" y="1041400"/>
            <a:ext cx="7454932" cy="961644"/>
            <a:chOff x="594360" y="1041400"/>
            <a:chExt cx="7454932" cy="961644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041400"/>
              <a:ext cx="745493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大到 V2X 万物互联，小到 1 ms 功率选择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1651000"/>
              <a:ext cx="51215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V2X 是完整大厦，功率分配是其中一块核心建材</a:t>
              </a:r>
            </a:p>
          </p:txBody>
        </p:sp>
      </p:grpSp>
      <p:grpSp>
        <p:nvGrpSpPr>
          <p:cNvPr id="11" name="v2x-hero"/>
          <p:cNvGrpSpPr/>
          <p:nvPr/>
        </p:nvGrpSpPr>
        <p:grpSpPr>
          <a:xfrm>
            <a:off x="603504" y="2213009"/>
            <a:ext cx="5340096" cy="3565237"/>
            <a:chOff x="603504" y="2213009"/>
            <a:chExt cx="5340096" cy="3565237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2213009"/>
              <a:ext cx="5334000" cy="2993957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03504" y="5334000"/>
              <a:ext cx="3435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V2X：车 · 路 · 人 · 云协同通信（概念示意图）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504" y="55435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本文只取其中一条高速移动链路</a:t>
              </a:r>
            </a:p>
          </p:txBody>
        </p:sp>
      </p:grpSp>
      <p:grpSp>
        <p:nvGrpSpPr>
          <p:cNvPr id="20" name="zoom-link"/>
          <p:cNvGrpSpPr/>
          <p:nvPr/>
        </p:nvGrpSpPr>
        <p:grpSpPr>
          <a:xfrm>
            <a:off x="6324600" y="2209800"/>
            <a:ext cx="5257800" cy="1031367"/>
            <a:chOff x="6324600" y="2209800"/>
            <a:chExt cx="5257800" cy="1031367"/>
          </a:xfrm>
        </p:grpSpPr>
        <p:sp>
          <p:nvSpPr>
            <p:cNvPr id="12" name="Rectangle 12"/>
            <p:cNvSpPr/>
            <p:nvPr/>
          </p:nvSpPr>
          <p:spPr>
            <a:xfrm>
              <a:off x="6324600" y="2209800"/>
              <a:ext cx="5257800" cy="102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6572959" y="2446878"/>
              <a:ext cx="208123" cy="178805"/>
              <a:chOff x="6572959" y="2446878"/>
              <a:chExt cx="208123" cy="17880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677025" y="2512218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572959" y="2446878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677025" y="25844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6907530" y="24320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关联：共享同一类底层难题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6723" y="2781300"/>
              <a:ext cx="282166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高速移动 · 大多普勒 · 信道快速时变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723" y="2990850"/>
              <a:ext cx="20972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CSI 过时 · 能量 / 功率受限</a:t>
              </a:r>
            </a:p>
          </p:txBody>
        </p:sp>
      </p:grpSp>
      <p:grpSp>
        <p:nvGrpSpPr>
          <p:cNvPr id="29" name="zoom-diff"/>
          <p:cNvGrpSpPr/>
          <p:nvPr/>
        </p:nvGrpSpPr>
        <p:grpSpPr>
          <a:xfrm>
            <a:off x="6324600" y="3429000"/>
            <a:ext cx="5257800" cy="1031367"/>
            <a:chOff x="6324600" y="3429000"/>
            <a:chExt cx="5257800" cy="1031367"/>
          </a:xfrm>
        </p:grpSpPr>
        <p:sp>
          <p:nvSpPr>
            <p:cNvPr id="21" name="Rectangle 21"/>
            <p:cNvSpPr/>
            <p:nvPr/>
          </p:nvSpPr>
          <p:spPr>
            <a:xfrm>
              <a:off x="6324600" y="3429000"/>
              <a:ext cx="5257800" cy="102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584156" y="3700462"/>
              <a:ext cx="185737" cy="134144"/>
              <a:chOff x="6584156" y="3700462"/>
              <a:chExt cx="185737" cy="13414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604794" y="3793331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07981" y="3793331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84156" y="3700462"/>
                <a:ext cx="185737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13506">
                    <a:moveTo>
                      <a:pt x="20637" y="113506"/>
                    </a:moveTo>
                    <a:lnTo>
                      <a:pt x="0" y="113506"/>
                    </a:lnTo>
                    <a:lnTo>
                      <a:pt x="0" y="51594"/>
                    </a:lnTo>
                    <a:lnTo>
                      <a:pt x="20637" y="0"/>
                    </a:lnTo>
                    <a:lnTo>
                      <a:pt x="113506" y="0"/>
                    </a:lnTo>
                    <a:lnTo>
                      <a:pt x="154781" y="51594"/>
                    </a:lnTo>
                    <a:lnTo>
                      <a:pt x="165099" y="51594"/>
                    </a:lnTo>
                    <a:cubicBezTo>
                      <a:pt x="176497" y="51594"/>
                      <a:pt x="185737" y="60833"/>
                      <a:pt x="185737" y="72231"/>
                    </a:cubicBezTo>
                    <a:lnTo>
                      <a:pt x="185737" y="113506"/>
                    </a:lnTo>
                    <a:lnTo>
                      <a:pt x="165099" y="113506"/>
                    </a:lnTo>
                    <a:moveTo>
                      <a:pt x="123825" y="113506"/>
                    </a:moveTo>
                    <a:lnTo>
                      <a:pt x="61912" y="113506"/>
                    </a:lnTo>
                    <a:moveTo>
                      <a:pt x="0" y="51594"/>
                    </a:moveTo>
                    <a:lnTo>
                      <a:pt x="154781" y="51594"/>
                    </a:lnTo>
                    <a:moveTo>
                      <a:pt x="92868" y="51594"/>
                    </a:moveTo>
                    <a:lnTo>
                      <a:pt x="92868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907530" y="3651250"/>
              <a:ext cx="30007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差别：完整大厦 vs 一块核心建材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6723" y="4000500"/>
              <a:ext cx="364194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V2X 还要处理多车干扰、安全时延、多用户调度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6723" y="4210050"/>
              <a:ext cx="371542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 MAC / 网络层问题；范围、层级、目标全不同</a:t>
              </a:r>
            </a:p>
          </p:txBody>
        </p:sp>
      </p:grpSp>
      <p:grpSp>
        <p:nvGrpSpPr>
          <p:cNvPr id="38" name="zoom-scope"/>
          <p:cNvGrpSpPr/>
          <p:nvPr/>
        </p:nvGrpSpPr>
        <p:grpSpPr>
          <a:xfrm>
            <a:off x="6324600" y="4648200"/>
            <a:ext cx="5257800" cy="1031367"/>
            <a:chOff x="6324600" y="4648200"/>
            <a:chExt cx="5257800" cy="1031367"/>
          </a:xfrm>
        </p:grpSpPr>
        <p:sp>
          <p:nvSpPr>
            <p:cNvPr id="30" name="Rectangle 30"/>
            <p:cNvSpPr/>
            <p:nvPr/>
          </p:nvSpPr>
          <p:spPr>
            <a:xfrm>
              <a:off x="6324600" y="4648200"/>
              <a:ext cx="5257800" cy="102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584156" y="4888706"/>
              <a:ext cx="185737" cy="185737"/>
              <a:chOff x="6584156" y="4888706"/>
              <a:chExt cx="185737" cy="18573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666706" y="4971256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625431" y="4929981"/>
                <a:ext cx="103187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03187">
                    <a:moveTo>
                      <a:pt x="0" y="51594"/>
                    </a:moveTo>
                    <a:cubicBezTo>
                      <a:pt x="0" y="80088"/>
                      <a:pt x="23099" y="103187"/>
                      <a:pt x="51594" y="103187"/>
                    </a:cubicBezTo>
                    <a:cubicBezTo>
                      <a:pt x="80088" y="103187"/>
                      <a:pt x="103187" y="80088"/>
                      <a:pt x="103187" y="51594"/>
                    </a:cubicBezTo>
                    <a:cubicBezTo>
                      <a:pt x="103187" y="23099"/>
                      <a:pt x="80088" y="0"/>
                      <a:pt x="51594" y="0"/>
                    </a:cubicBezTo>
                    <a:cubicBezTo>
                      <a:pt x="23099" y="0"/>
                      <a:pt x="0" y="23099"/>
                      <a:pt x="0" y="51594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84156" y="48887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907530" y="48704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做法：剥离组网，单独研究性能边界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6723" y="5219700"/>
              <a:ext cx="363154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聚焦底层因果功率分配，摸清这一个模块的边界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46723" y="5429250"/>
              <a:ext cx="300730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未来可作为 V2X 链路自适应的备选方案</a:t>
              </a:r>
            </a:p>
          </p:txBody>
        </p:sp>
      </p:grpSp>
      <p:grpSp>
        <p:nvGrpSpPr>
          <p:cNvPr id="42" name="hook"/>
          <p:cNvGrpSpPr/>
          <p:nvPr/>
        </p:nvGrpSpPr>
        <p:grpSpPr>
          <a:xfrm>
            <a:off x="609600" y="5867400"/>
            <a:ext cx="10972800" cy="685800"/>
            <a:chOff x="609600" y="5867400"/>
            <a:chExt cx="10972800" cy="685800"/>
          </a:xfrm>
        </p:grpSpPr>
        <p:sp>
          <p:nvSpPr>
            <p:cNvPr id="39" name="Rectangle 39"/>
            <p:cNvSpPr/>
            <p:nvPr/>
          </p:nvSpPr>
          <p:spPr>
            <a:xfrm>
              <a:off x="609600" y="5867400"/>
              <a:ext cx="109728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399663" y="5918200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建材的力学特性：高速衰落下怎么分配功率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62527" y="6286500"/>
              <a:ext cx="4066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它对整栋大厦能否稳定工作至关重要——但我们不盖整栋楼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604266" y="520700"/>
            <a:ext cx="10978134" cy="288925"/>
            <a:chOff x="604266" y="520700"/>
            <a:chExt cx="10978134" cy="28892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20700"/>
              <a:ext cx="11356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P03 · 开场与问题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94360" y="1041400"/>
            <a:ext cx="5649773" cy="961644"/>
            <a:chOff x="594360" y="1041400"/>
            <a:chExt cx="5649773" cy="961644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041400"/>
              <a:ext cx="538609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问题</a:t>
              </a:r>
              <a:r>
                <a:rPr lang="zh-CN" altLang="en-US" sz="3000" b="1" dirty="0">
                  <a:solidFill>
                    <a:schemeClr val="accent1"/>
                  </a:solidFill>
                </a:rPr>
                <a:t>建模</a:t>
              </a: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：车过即逝的信道窗口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1651000"/>
              <a:ext cx="56436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车辆沿直路经过静止接收节点，信道随距离 U 形变化</a:t>
              </a:r>
            </a:p>
          </p:txBody>
        </p:sp>
      </p:grpSp>
      <p:grpSp>
        <p:nvGrpSpPr>
          <p:cNvPr id="10" name="scene-figure"/>
          <p:cNvGrpSpPr/>
          <p:nvPr/>
        </p:nvGrpSpPr>
        <p:grpSpPr>
          <a:xfrm>
            <a:off x="594359" y="2036000"/>
            <a:ext cx="7651618" cy="4522424"/>
            <a:chOff x="596431" y="2057440"/>
            <a:chExt cx="6051380" cy="3964519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6431" y="2057440"/>
              <a:ext cx="6051380" cy="3652499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04266" y="5816600"/>
              <a:ext cx="45784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场景几何：垂距 d_perp = 20 m，最近点位于 episode 中点，路损呈 U 形</a:t>
              </a:r>
            </a:p>
          </p:txBody>
        </p:sp>
      </p:grpSp>
      <p:grpSp>
        <p:nvGrpSpPr>
          <p:cNvPr id="39" name="decision-points"/>
          <p:cNvGrpSpPr/>
          <p:nvPr/>
        </p:nvGrpSpPr>
        <p:grpSpPr>
          <a:xfrm>
            <a:off x="8404122" y="2065196"/>
            <a:ext cx="3443478" cy="3893286"/>
            <a:chOff x="6781800" y="2311400"/>
            <a:chExt cx="3443478" cy="3893286"/>
          </a:xfrm>
        </p:grpSpPr>
        <p:grpSp>
          <p:nvGrpSpPr>
            <p:cNvPr id="17" name="point-speed"/>
            <p:cNvGrpSpPr/>
            <p:nvPr/>
          </p:nvGrpSpPr>
          <p:grpSpPr>
            <a:xfrm>
              <a:off x="6781800" y="2311400"/>
              <a:ext cx="3443478" cy="838708"/>
              <a:chOff x="6781800" y="2311400"/>
              <a:chExt cx="3443478" cy="838708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6781800" y="2362200"/>
                <a:ext cx="228599" cy="165100"/>
                <a:chOff x="6781800" y="2362200"/>
                <a:chExt cx="228599" cy="16510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6807200" y="24765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6934200" y="24765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6781800" y="2362200"/>
                  <a:ext cx="228599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39700">
                      <a:moveTo>
                        <a:pt x="25400" y="139700"/>
                      </a:moveTo>
                      <a:lnTo>
                        <a:pt x="0" y="139700"/>
                      </a:lnTo>
                      <a:lnTo>
                        <a:pt x="0" y="63500"/>
                      </a:lnTo>
                      <a:lnTo>
                        <a:pt x="25400" y="0"/>
                      </a:lnTo>
                      <a:lnTo>
                        <a:pt x="139700" y="0"/>
                      </a:lnTo>
                      <a:lnTo>
                        <a:pt x="190500" y="63500"/>
                      </a:lnTo>
                      <a:lnTo>
                        <a:pt x="203199" y="63500"/>
                      </a:lnTo>
                      <a:cubicBezTo>
                        <a:pt x="217227" y="63500"/>
                        <a:pt x="228599" y="74872"/>
                        <a:pt x="228599" y="88900"/>
                      </a:cubicBezTo>
                      <a:lnTo>
                        <a:pt x="228599" y="139700"/>
                      </a:lnTo>
                      <a:lnTo>
                        <a:pt x="203199" y="139700"/>
                      </a:lnTo>
                      <a:moveTo>
                        <a:pt x="152400" y="139700"/>
                      </a:moveTo>
                      <a:lnTo>
                        <a:pt x="76200" y="139700"/>
                      </a:lnTo>
                      <a:moveTo>
                        <a:pt x="0" y="63500"/>
                      </a:moveTo>
                      <a:lnTo>
                        <a:pt x="190500" y="63500"/>
                      </a:lnTo>
                      <a:moveTo>
                        <a:pt x="114300" y="63500"/>
                      </a:moveTo>
                      <a:lnTo>
                        <a:pt x="114300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7192518" y="2311400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三档速度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194042" y="2628900"/>
                <a:ext cx="3031236" cy="521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025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 ∈ {30, 120, 350} km/h，沿直路行驶</a:t>
                </a:r>
                <a:b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最近点位于 episode 中点</a:t>
                </a:r>
              </a:p>
            </p:txBody>
          </p:sp>
        </p:grpSp>
        <p:grpSp>
          <p:nvGrpSpPr>
            <p:cNvPr id="23" name="point-slot"/>
            <p:cNvGrpSpPr/>
            <p:nvPr/>
          </p:nvGrpSpPr>
          <p:grpSpPr>
            <a:xfrm>
              <a:off x="6781800" y="3378200"/>
              <a:ext cx="3160586" cy="838708"/>
              <a:chOff x="6781800" y="3378200"/>
              <a:chExt cx="3160586" cy="838708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6781800" y="3390900"/>
                <a:ext cx="228599" cy="228599"/>
                <a:chOff x="6781800" y="3390900"/>
                <a:chExt cx="228599" cy="228599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781800" y="3390900"/>
                  <a:ext cx="228599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228599">
                      <a:moveTo>
                        <a:pt x="0" y="114300"/>
                      </a:moveTo>
                      <a:cubicBezTo>
                        <a:pt x="0" y="177426"/>
                        <a:pt x="51174" y="228599"/>
                        <a:pt x="114300" y="228599"/>
                      </a:cubicBezTo>
                      <a:cubicBezTo>
                        <a:pt x="177426" y="228599"/>
                        <a:pt x="228599" y="177426"/>
                        <a:pt x="228599" y="114300"/>
                      </a:cubicBezTo>
                      <a:cubicBezTo>
                        <a:pt x="228599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896100" y="3441700"/>
                  <a:ext cx="381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01600">
                      <a:moveTo>
                        <a:pt x="0" y="0"/>
                      </a:moveTo>
                      <a:lnTo>
                        <a:pt x="0" y="63500"/>
                      </a:lnTo>
                      <a:lnTo>
                        <a:pt x="38100" y="10160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7192518" y="3378200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时隙决策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94042" y="3695700"/>
                <a:ext cx="2748344" cy="521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025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 Δt = 1 ms 决策一次发射功率 p_t</a:t>
                </a:r>
                <a:b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episode 共 T = 1000 个时隙</a:t>
                </a:r>
              </a:p>
            </p:txBody>
          </p:sp>
        </p:grpSp>
        <p:grpSp>
          <p:nvGrpSpPr>
            <p:cNvPr id="31" name="point-channel"/>
            <p:cNvGrpSpPr/>
            <p:nvPr/>
          </p:nvGrpSpPr>
          <p:grpSpPr>
            <a:xfrm>
              <a:off x="6781800" y="4387850"/>
              <a:ext cx="2483194" cy="807186"/>
              <a:chOff x="6781800" y="4387850"/>
              <a:chExt cx="2483194" cy="807186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6781800" y="4413250"/>
                <a:ext cx="228600" cy="212724"/>
                <a:chOff x="6781800" y="4413250"/>
                <a:chExt cx="228600" cy="212724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6781800" y="4514850"/>
                  <a:ext cx="762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016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63500" y="0"/>
                      </a:lnTo>
                      <a:cubicBezTo>
                        <a:pt x="70514" y="0"/>
                        <a:pt x="76200" y="5686"/>
                        <a:pt x="76200" y="12700"/>
                      </a:cubicBezTo>
                      <a:lnTo>
                        <a:pt x="76200" y="88900"/>
                      </a:lnTo>
                      <a:cubicBezTo>
                        <a:pt x="76200" y="95914"/>
                        <a:pt x="70514" y="101600"/>
                        <a:pt x="63500" y="101600"/>
                      </a:cubicBezTo>
                      <a:lnTo>
                        <a:pt x="12700" y="101600"/>
                      </a:lnTo>
                      <a:cubicBezTo>
                        <a:pt x="5686" y="101600"/>
                        <a:pt x="0" y="95914"/>
                        <a:pt x="0" y="889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934200" y="4464050"/>
                  <a:ext cx="762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524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63500" y="0"/>
                      </a:lnTo>
                      <a:cubicBezTo>
                        <a:pt x="70514" y="0"/>
                        <a:pt x="76200" y="5686"/>
                        <a:pt x="76200" y="12700"/>
                      </a:cubicBezTo>
                      <a:lnTo>
                        <a:pt x="76200" y="139700"/>
                      </a:lnTo>
                      <a:cubicBezTo>
                        <a:pt x="76200" y="146714"/>
                        <a:pt x="70514" y="152400"/>
                        <a:pt x="63500" y="152400"/>
                      </a:cubicBezTo>
                      <a:lnTo>
                        <a:pt x="12700" y="152400"/>
                      </a:lnTo>
                      <a:cubicBezTo>
                        <a:pt x="5686" y="152400"/>
                        <a:pt x="0" y="146714"/>
                        <a:pt x="0" y="1397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858000" y="4413250"/>
                  <a:ext cx="76200" cy="2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203199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63500" y="0"/>
                      </a:lnTo>
                      <a:cubicBezTo>
                        <a:pt x="70514" y="0"/>
                        <a:pt x="76200" y="5686"/>
                        <a:pt x="76200" y="12700"/>
                      </a:cubicBezTo>
                      <a:lnTo>
                        <a:pt x="76200" y="190500"/>
                      </a:lnTo>
                      <a:cubicBezTo>
                        <a:pt x="76200" y="197514"/>
                        <a:pt x="70514" y="203199"/>
                        <a:pt x="63500" y="203199"/>
                      </a:cubicBezTo>
                      <a:lnTo>
                        <a:pt x="12700" y="203199"/>
                      </a:lnTo>
                      <a:cubicBezTo>
                        <a:pt x="5686" y="203199"/>
                        <a:pt x="0" y="197514"/>
                        <a:pt x="0" y="1905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794500" y="4616449"/>
                  <a:ext cx="177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9525">
                      <a:moveTo>
                        <a:pt x="0" y="0"/>
                      </a:moveTo>
                      <a:lnTo>
                        <a:pt x="177800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7192518" y="4387850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信道外生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30"/>
                  <p:cNvSpPr txBox="1"/>
                  <p:nvPr/>
                </p:nvSpPr>
                <p:spPr>
                  <a:xfrm>
                    <a:off x="7194042" y="4705350"/>
                    <a:ext cx="2070952" cy="4896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>
                      <a:lnSpc>
                        <a:spcPts val="2025"/>
                      </a:lnSpc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𝑔</m:t>
                            </m:r>
                          </m:e>
                          <m:sub>
                            <m: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sub>
                        </m:sSub>
                      </m:oMath>
                    </a14:m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离线预生成，训练时查表</a:t>
                    </a:r>
                    <a:b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</a:br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发射行为不影响信道实现</a:t>
                    </a:r>
                  </a:p>
                </p:txBody>
              </p:sp>
            </mc:Choice>
            <mc:Fallback xmlns="">
              <p:sp>
                <p:nvSpPr>
                  <p:cNvPr id="30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94042" y="4705350"/>
                    <a:ext cx="2070952" cy="48968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5000" t="-7407" r="-3824" b="-1975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point-objective"/>
            <p:cNvGrpSpPr/>
            <p:nvPr/>
          </p:nvGrpSpPr>
          <p:grpSpPr>
            <a:xfrm>
              <a:off x="6781800" y="5397500"/>
              <a:ext cx="2664718" cy="807186"/>
              <a:chOff x="6781800" y="5397500"/>
              <a:chExt cx="2664718" cy="807186"/>
            </a:xfrm>
          </p:grpSpPr>
          <p:grpSp>
            <p:nvGrpSpPr>
              <p:cNvPr id="35" name="Group 35"/>
              <p:cNvGrpSpPr/>
              <p:nvPr/>
            </p:nvGrpSpPr>
            <p:grpSpPr>
              <a:xfrm>
                <a:off x="6781800" y="5410200"/>
                <a:ext cx="228599" cy="228599"/>
                <a:chOff x="6781800" y="5410200"/>
                <a:chExt cx="228599" cy="228599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6883400" y="551180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832600" y="5461000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0" y="63500"/>
                      </a:moveTo>
                      <a:cubicBezTo>
                        <a:pt x="0" y="98570"/>
                        <a:pt x="28430" y="127000"/>
                        <a:pt x="63500" y="127000"/>
                      </a:cubicBezTo>
                      <a:cubicBezTo>
                        <a:pt x="98570" y="127000"/>
                        <a:pt x="127000" y="98570"/>
                        <a:pt x="127000" y="63500"/>
                      </a:cubicBezTo>
                      <a:cubicBezTo>
                        <a:pt x="127000" y="28430"/>
                        <a:pt x="98570" y="0"/>
                        <a:pt x="63500" y="0"/>
                      </a:cubicBezTo>
                      <a:cubicBezTo>
                        <a:pt x="28430" y="0"/>
                        <a:pt x="0" y="28430"/>
                        <a:pt x="0" y="6350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781800" y="5410200"/>
                  <a:ext cx="228599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228599">
                      <a:moveTo>
                        <a:pt x="0" y="114300"/>
                      </a:moveTo>
                      <a:cubicBezTo>
                        <a:pt x="0" y="177426"/>
                        <a:pt x="51174" y="228599"/>
                        <a:pt x="114300" y="228599"/>
                      </a:cubicBezTo>
                      <a:cubicBezTo>
                        <a:pt x="177426" y="228599"/>
                        <a:pt x="228599" y="177426"/>
                        <a:pt x="228599" y="114300"/>
                      </a:cubicBezTo>
                      <a:cubicBezTo>
                        <a:pt x="228599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7192518" y="5397500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目标与硬约束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7" name="TextBox 37"/>
                  <p:cNvSpPr txBox="1"/>
                  <p:nvPr/>
                </p:nvSpPr>
                <p:spPr>
                  <a:xfrm>
                    <a:off x="7194042" y="5715000"/>
                    <a:ext cx="2252476" cy="4896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>
                      <a:lnSpc>
                        <a:spcPts val="2025"/>
                      </a:lnSpc>
                    </a:pPr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最大化 episode 总传输量</a:t>
                    </a:r>
                    <a:b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</a:br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0 ≤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sub>
                        </m:sSub>
                      </m:oMath>
                    </a14:m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 ≤ p_max，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𝛴</m:t>
                            </m:r>
                          </m:e>
                          <m:sub>
                            <m: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sz="135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𝛥</m:t>
                        </m:r>
                        <m:r>
                          <a:rPr lang="zh-CN" altLang="en-US" sz="135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zh-CN" altLang="en-US" sz="1350" i="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≤</m:t>
                        </m:r>
                        <m:r>
                          <a:rPr lang="zh-CN" altLang="en-US" sz="135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𝐸</m:t>
                        </m:r>
                      </m:oMath>
                    </a14:m>
                    <a:endPara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37" name="Text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94042" y="5715000"/>
                    <a:ext cx="2252476" cy="48968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595" t="-7500" b="-225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604266" y="520700"/>
            <a:ext cx="10978134" cy="288925"/>
            <a:chOff x="604266" y="520700"/>
            <a:chExt cx="10978134" cy="28892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20700"/>
              <a:ext cx="994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P04 · 问题模型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594360" y="1041400"/>
            <a:ext cx="6540252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数学</a:t>
            </a:r>
            <a:r>
              <a:rPr lang="zh-CN" altLang="en-US" sz="3000" b="1" dirty="0">
                <a:solidFill>
                  <a:schemeClr val="accent1"/>
                </a:solidFill>
              </a:rPr>
              <a:t>建模</a:t>
            </a:r>
            <a:r>
              <a: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：带硬能量预算的速率最大化</a:t>
            </a:r>
          </a:p>
        </p:txBody>
      </p:sp>
      <p:grpSp>
        <p:nvGrpSpPr>
          <p:cNvPr id="26" name="model-steps"/>
          <p:cNvGrpSpPr/>
          <p:nvPr/>
        </p:nvGrpSpPr>
        <p:grpSpPr>
          <a:xfrm>
            <a:off x="594360" y="1603883"/>
            <a:ext cx="10972800" cy="1524000"/>
            <a:chOff x="609600" y="2133600"/>
            <a:chExt cx="10972800" cy="1524000"/>
          </a:xfrm>
        </p:grpSpPr>
        <p:sp>
          <p:nvSpPr>
            <p:cNvPr id="8" name="Rectangle 8"/>
            <p:cNvSpPr/>
            <p:nvPr/>
          </p:nvSpPr>
          <p:spPr>
            <a:xfrm>
              <a:off x="609600" y="2133600"/>
              <a:ext cx="109728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4191000" y="2286000"/>
              <a:ext cx="9525" cy="1219200"/>
            </a:xfrm>
            <a:custGeom>
              <a:avLst/>
              <a:gdLst/>
              <a:ahLst/>
              <a:cxnLst/>
              <a:rect l="l" t="t" r="r" b="b"/>
              <a:pathLst>
                <a:path w="9525" h="1219200">
                  <a:moveTo>
                    <a:pt x="0" y="0"/>
                  </a:moveTo>
                  <a:lnTo>
                    <a:pt x="0" y="1219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848600" y="2286000"/>
              <a:ext cx="9525" cy="1219200"/>
            </a:xfrm>
            <a:custGeom>
              <a:avLst/>
              <a:gdLst/>
              <a:ahLst/>
              <a:cxnLst/>
              <a:rect l="l" t="t" r="r" b="b"/>
              <a:pathLst>
                <a:path w="9525" h="1219200">
                  <a:moveTo>
                    <a:pt x="0" y="0"/>
                  </a:moveTo>
                  <a:lnTo>
                    <a:pt x="0" y="1219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9818" y="2197100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1580" y="22225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要什么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3"/>
                <p:cNvSpPr txBox="1"/>
                <p:nvPr/>
              </p:nvSpPr>
              <p:spPr>
                <a:xfrm>
                  <a:off x="830961" y="2578100"/>
                  <a:ext cx="1086003" cy="2185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r>
                          <a:rPr lang="zh-CN" altLang="el-GR" sz="142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  <m:sSub>
                          <m:sSubPr>
                            <m:ctrlPr>
                              <a:rPr lang="zh-CN" altLang="el-GR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l-GR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𝛴</m:t>
                            </m:r>
                          </m:e>
                          <m:sub>
                            <m:r>
                              <a:rPr lang="zh-CN" altLang="el-GR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l-GR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l-GR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l-GR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l-GR" altLang="zh-CN" sz="1420" i="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zh-CN" altLang="el-GR" sz="142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zh-CN" altLang="el-GR" sz="142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l-GR" sz="14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endParaRPr>
                </a:p>
              </p:txBody>
            </p:sp>
          </mc:Choice>
          <mc:Fallback xmlns="">
            <p:sp>
              <p:nvSpPr>
                <p:cNvPr id="13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961" y="2578100"/>
                  <a:ext cx="1086003" cy="218521"/>
                </a:xfrm>
                <a:prstGeom prst="rect">
                  <a:avLst/>
                </a:prstGeom>
                <a:blipFill>
                  <a:blip r:embed="rId2"/>
                  <a:stretch>
                    <a:fillRect r="-562"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4"/>
            <p:cNvSpPr txBox="1"/>
            <p:nvPr/>
          </p:nvSpPr>
          <p:spPr>
            <a:xfrm>
              <a:off x="831342" y="28638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整段旅程传输的比特总量最大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104" y="3098800"/>
              <a:ext cx="21610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速率是"流量"，总量逐时隙累加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（1000 个 1 ms 时隙）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87418" y="2197100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69180" y="22225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每一步能传多少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8"/>
                <p:cNvSpPr txBox="1"/>
                <p:nvPr/>
              </p:nvSpPr>
              <p:spPr>
                <a:xfrm>
                  <a:off x="4488561" y="2578100"/>
                  <a:ext cx="2243563" cy="2185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zh-CN" altLang="en-US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n-US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420" i="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142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420" i="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zh-CN" altLang="en-US" sz="142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  <m:r>
                          <a:rPr lang="en-US" altLang="zh-CN" sz="1420" i="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₂</m:t>
                        </m:r>
                        <m:d>
                          <m:dPr>
                            <m:ctrlPr>
                              <a:rPr lang="en-US" altLang="zh-CN" sz="1420" i="0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20" i="0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zh-CN" altLang="en-US" sz="1420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420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zh-CN" altLang="en-US" sz="1420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sz="1420" i="0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·</m:t>
                            </m:r>
                            <m:sSub>
                              <m:sSubPr>
                                <m:ctrlPr>
                                  <a:rPr lang="zh-CN" altLang="en-US" sz="1420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420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zh-CN" altLang="en-US" sz="1420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sz="1420" i="0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zh-CN" altLang="en-US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oMath>
                    </m:oMathPara>
                  </a14:m>
                  <a:endParaRPr lang="en-US" sz="14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endParaRPr>
                </a:p>
              </p:txBody>
            </p:sp>
          </mc:Choice>
          <mc:Fallback xmlns="">
            <p:sp>
              <p:nvSpPr>
                <p:cNvPr id="18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561" y="2578100"/>
                  <a:ext cx="2243563" cy="218521"/>
                </a:xfrm>
                <a:prstGeom prst="rect">
                  <a:avLst/>
                </a:prstGeom>
                <a:blipFill>
                  <a:blip r:embed="rId3"/>
                  <a:stretch>
                    <a:fillRect b="-3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9"/>
            <p:cNvSpPr txBox="1"/>
            <p:nvPr/>
          </p:nvSpPr>
          <p:spPr>
            <a:xfrm>
              <a:off x="4488942" y="2863850"/>
              <a:ext cx="27731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Shannon 容量：功率换比特的汇率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20"/>
                <p:cNvSpPr txBox="1"/>
                <p:nvPr/>
              </p:nvSpPr>
              <p:spPr>
                <a:xfrm>
                  <a:off x="4489704" y="3098800"/>
                  <a:ext cx="2521524" cy="4402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8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2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lang="zh-CN" altLang="en-US" sz="120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外生：信道与决策无关（见下方）</a:t>
                  </a:r>
                  <a:b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</a:br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边际递减：SNR 越高，加功率越不值</a:t>
                  </a:r>
                </a:p>
              </p:txBody>
            </p:sp>
          </mc:Choice>
          <mc:Fallback xmlns="">
            <p:sp>
              <p:nvSpPr>
                <p:cNvPr id="20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9704" y="3098800"/>
                  <a:ext cx="2521524" cy="440249"/>
                </a:xfrm>
                <a:prstGeom prst="rect">
                  <a:avLst/>
                </a:prstGeom>
                <a:blipFill>
                  <a:blip r:embed="rId4"/>
                  <a:stretch>
                    <a:fillRect l="-3623" t="-5479" r="-2657" b="-205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1"/>
            <p:cNvSpPr txBox="1"/>
            <p:nvPr/>
          </p:nvSpPr>
          <p:spPr>
            <a:xfrm>
              <a:off x="8145018" y="2197100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26780" y="2222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受什么限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3"/>
                <p:cNvSpPr txBox="1"/>
                <p:nvPr/>
              </p:nvSpPr>
              <p:spPr>
                <a:xfrm>
                  <a:off x="8146161" y="2578100"/>
                  <a:ext cx="2396810" cy="2185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r>
                          <a:rPr lang="en-US" altLang="zh-CN" sz="142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sz="1420" i="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en-US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zh-CN" altLang="en-US" sz="1420" i="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420" i="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0.2</m:t>
                        </m:r>
                        <m:r>
                          <a:rPr lang="zh-CN" altLang="en-US" sz="142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zh-CN" altLang="en-US" sz="1420" i="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；</m:t>
                        </m:r>
                        <m:r>
                          <a:rPr lang="zh-CN" altLang="en-US" sz="142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𝛴</m:t>
                        </m:r>
                        <m:sSub>
                          <m:sSubPr>
                            <m:ctrlPr>
                              <a:rPr lang="zh-CN" altLang="en-US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sz="142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420" i="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zh-CN" altLang="en-US" sz="142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zh-CN" altLang="en-US" sz="142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1420" i="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142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zh-CN" sz="1420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endParaRPr>
                </a:p>
              </p:txBody>
            </p:sp>
          </mc:Choice>
          <mc:Fallback xmlns="">
            <p:sp>
              <p:nvSpPr>
                <p:cNvPr id="23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6161" y="2578100"/>
                  <a:ext cx="2396810" cy="218521"/>
                </a:xfrm>
                <a:prstGeom prst="rect">
                  <a:avLst/>
                </a:prstGeom>
                <a:blipFill>
                  <a:blip r:embed="rId5"/>
                  <a:stretch>
                    <a:fillRect l="-254" b="-25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Box 24"/>
            <p:cNvSpPr txBox="1"/>
            <p:nvPr/>
          </p:nvSpPr>
          <p:spPr>
            <a:xfrm>
              <a:off x="8146542" y="28638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功放有上限，油箱有预算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7304" y="3098800"/>
              <a:ext cx="23134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油门每毫秒可深可浅（≤ 23 dBm）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整段"油耗"定死——只限总量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3"/>
              <p:cNvSpPr/>
              <p:nvPr/>
            </p:nvSpPr>
            <p:spPr>
              <a:xfrm>
                <a:off x="503376" y="3228701"/>
                <a:ext cx="11037201" cy="322126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  <p:txBody>
              <a:bodyPr/>
              <a:lstStyle/>
              <a:p>
                <a:endParaRPr lang="en-US" altLang="zh-CN" i="1" dirty="0">
                  <a:solidFill>
                    <a:srgbClr val="1A3A5C"/>
                  </a:solidFill>
                  <a:latin typeface="Cambria Math"/>
                  <a:ea typeface="Cambria Math"/>
                  <a:cs typeface="Cambria Math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zh-CN" dirty="0">
                              <a:solidFill>
                                <a:srgbClr val="1A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zh-CN" altLang="zh-CN" dirty="0">
                              <a:solidFill>
                                <a:srgbClr val="1A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zh-CN" altLang="zh-CN" dirty="0">
                              <a:solidFill>
                                <a:srgbClr val="1A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zh-CN" altLang="zh-CN" dirty="0">
                          <a:solidFill>
                            <a:srgbClr val="1A3A5C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=1</m:t>
                      </m:r>
                      <m:sSup>
                        <m:sSupPr>
                          <m:ctrlPr>
                            <a:rPr lang="zh-CN" altLang="zh-CN" dirty="0">
                              <a:solidFill>
                                <a:srgbClr val="1A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zh-CN" altLang="zh-CN" dirty="0">
                              <a:solidFill>
                                <a:srgbClr val="1A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  <m:sup>
                          <m:r>
                            <a:rPr lang="zh-CN" altLang="zh-CN" dirty="0">
                              <a:solidFill>
                                <a:srgbClr val="1A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d>
                            <m:dPr>
                              <m:ctrlPr>
                                <a:rPr lang="zh-CN" altLang="zh-CN" dirty="0">
                                  <a:solidFill>
                                    <a:srgbClr val="1A3A5C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altLang="zh-CN" dirty="0">
                                  <a:solidFill>
                                    <a:srgbClr val="1A3A5C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zh-CN" altLang="zh-CN" dirty="0">
                                      <a:solidFill>
                                        <a:srgbClr val="1A3A5C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dirty="0">
                                      <a:solidFill>
                                        <a:srgbClr val="1A3A5C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zh-CN" altLang="zh-CN" dirty="0">
                                      <a:solidFill>
                                        <a:srgbClr val="1A3A5C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zh-CN" altLang="zh-CN" dirty="0">
                                  <a:solidFill>
                                    <a:srgbClr val="1A3A5C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altLang="zh-CN" dirty="0">
                                  <a:solidFill>
                                    <a:srgbClr val="1A3A5C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𝜓</m:t>
                              </m:r>
                            </m:e>
                          </m:d>
                          <m:r>
                            <a:rPr lang="zh-CN" altLang="zh-CN" dirty="0">
                              <a:solidFill>
                                <a:srgbClr val="1A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/10</m:t>
                          </m:r>
                        </m:sup>
                      </m:sSup>
                      <m:r>
                        <a:rPr lang="zh-CN" altLang="zh-CN" dirty="0">
                          <a:solidFill>
                            <a:srgbClr val="1A3A5C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sSub>
                        <m:sSubPr>
                          <m:ctrlPr>
                            <a:rPr lang="zh-CN" altLang="zh-CN" dirty="0">
                              <a:solidFill>
                                <a:srgbClr val="1A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zh-CN" altLang="zh-CN" dirty="0">
                              <a:solidFill>
                                <a:srgbClr val="1A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zh-CN" dirty="0">
                              <a:solidFill>
                                <a:srgbClr val="1A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small</m:t>
                          </m:r>
                        </m:sub>
                      </m:sSub>
                      <m:d>
                        <m:dPr>
                          <m:ctrlPr>
                            <a:rPr lang="zh-CN" altLang="zh-CN" dirty="0">
                              <a:solidFill>
                                <a:srgbClr val="1A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altLang="zh-CN" dirty="0">
                              <a:solidFill>
                                <a:srgbClr val="1A3A5C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  <a:p>
                <a:endParaRPr lang="en-US" altLang="zh-CN" i="1" dirty="0">
                  <a:solidFill>
                    <a:srgbClr val="1A3A5C"/>
                  </a:solidFill>
                  <a:latin typeface="Cambria Math"/>
                  <a:ea typeface="Cambria Math"/>
                  <a:cs typeface="Cambria Math"/>
                </a:endParaRPr>
              </a:p>
              <a:p>
                <a:r>
                  <a:rPr lang="en-US" altLang="zh-CN" i="1" dirty="0">
                    <a:solidFill>
                      <a:srgbClr val="1A3A5C"/>
                    </a:solidFill>
                    <a:latin typeface="Cambria Math"/>
                    <a:ea typeface="Cambria Math"/>
                    <a:cs typeface="Cambria Math"/>
                  </a:rPr>
                  <a:t>	</a:t>
                </a:r>
                <a:r>
                  <a:rPr lang="zh-CN" altLang="en-US" i="1" dirty="0">
                    <a:solidFill>
                      <a:srgbClr val="1A3A5C"/>
                    </a:solidFill>
                    <a:latin typeface="Cambria Math"/>
                    <a:ea typeface="Cambria Math"/>
                    <a:cs typeface="Cambria Math"/>
                  </a:rPr>
                  <a:t>考虑路径损耗</a:t>
                </a:r>
                <a:r>
                  <a:rPr lang="en-US" altLang="zh-CN" i="1" dirty="0">
                    <a:solidFill>
                      <a:srgbClr val="1A3A5C"/>
                    </a:solidFill>
                    <a:latin typeface="Cambria Math"/>
                    <a:ea typeface="Cambria Math"/>
                    <a:cs typeface="Cambria Math"/>
                  </a:rPr>
                  <a:t>(</a:t>
                </a:r>
                <a:r>
                  <a:rPr lang="zh-CN" altLang="en-US" i="1" dirty="0">
                    <a:solidFill>
                      <a:srgbClr val="1A3A5C"/>
                    </a:solidFill>
                    <a:latin typeface="Cambria Math"/>
                    <a:ea typeface="Cambria Math"/>
                    <a:cs typeface="Cambria Math"/>
                  </a:rPr>
                  <a:t>随距离慢变</a:t>
                </a:r>
                <a:r>
                  <a:rPr lang="en-US" altLang="zh-CN" i="1" dirty="0">
                    <a:solidFill>
                      <a:srgbClr val="1A3A5C"/>
                    </a:solidFill>
                    <a:latin typeface="Cambria Math"/>
                    <a:ea typeface="Cambria Math"/>
                    <a:cs typeface="Cambria Math"/>
                  </a:rPr>
                  <a:t>)</a:t>
                </a:r>
                <a:r>
                  <a:rPr lang="zh-CN" altLang="en-US" i="1" dirty="0">
                    <a:solidFill>
                      <a:srgbClr val="1A3A5C"/>
                    </a:solidFill>
                    <a:latin typeface="Cambria Math"/>
                    <a:ea typeface="Cambria Math"/>
                    <a:cs typeface="Cambria Math"/>
                  </a:rPr>
                  <a:t>，</a:t>
                </a:r>
                <a:r>
                  <a:rPr lang="en-US" altLang="zh-CN" i="1" dirty="0">
                    <a:solidFill>
                      <a:srgbClr val="1A3A5C"/>
                    </a:solidFill>
                    <a:latin typeface="Cambria Math"/>
                    <a:ea typeface="Cambria Math"/>
                    <a:cs typeface="Cambria Math"/>
                  </a:rPr>
                  <a:t> </a:t>
                </a:r>
                <a:r>
                  <a:rPr lang="zh-CN" altLang="en-US" i="1" dirty="0">
                    <a:solidFill>
                      <a:srgbClr val="1A3A5C"/>
                    </a:solidFill>
                    <a:latin typeface="Cambria Math"/>
                    <a:ea typeface="Cambria Math"/>
                    <a:cs typeface="Cambria Math"/>
                  </a:rPr>
                  <a:t>阴影衰落近似不变，小尺度衰落快变</a:t>
                </a:r>
                <a:r>
                  <a:rPr lang="en-US" altLang="zh-CN" i="1" dirty="0">
                    <a:solidFill>
                      <a:srgbClr val="1A3A5C"/>
                    </a:solidFill>
                    <a:latin typeface="Cambria Math"/>
                    <a:ea typeface="Cambria Math"/>
                    <a:cs typeface="Cambria Math"/>
                  </a:rPr>
                  <a:t>(Sionna TDL-C  SoS</a:t>
                </a:r>
                <a:r>
                  <a:rPr lang="zh-CN" altLang="en-US" i="1" dirty="0">
                    <a:solidFill>
                      <a:srgbClr val="1A3A5C"/>
                    </a:solidFill>
                    <a:latin typeface="Cambria Math"/>
                    <a:ea typeface="Cambria Math"/>
                    <a:cs typeface="Cambria Math"/>
                  </a:rPr>
                  <a:t>模型</a:t>
                </a:r>
                <a:r>
                  <a:rPr lang="en-US" altLang="zh-CN" i="1" dirty="0">
                    <a:solidFill>
                      <a:srgbClr val="1A3A5C"/>
                    </a:solidFill>
                    <a:latin typeface="Cambria Math"/>
                    <a:ea typeface="Cambria Math"/>
                    <a:cs typeface="Cambria Math"/>
                  </a:rPr>
                  <a:t>)</a:t>
                </a:r>
              </a:p>
              <a:p>
                <a:endParaRPr lang="en-US" altLang="zh-CN" i="1" dirty="0">
                  <a:solidFill>
                    <a:srgbClr val="1A3A5C"/>
                  </a:solidFill>
                  <a:latin typeface="Cambria Math"/>
                  <a:ea typeface="Cambria Math"/>
                  <a:cs typeface="Cambria Math"/>
                </a:endParaRPr>
              </a:p>
              <a:p>
                <a:r>
                  <a:rPr lang="en-US" altLang="zh-CN" dirty="0">
                    <a:solidFill>
                      <a:srgbClr val="1A3A5C"/>
                    </a:solidFill>
                    <a:ea typeface="Cambria Math"/>
                    <a:cs typeface="Cambria Math"/>
                  </a:rPr>
                  <a:t>						</a:t>
                </a:r>
                <a:r>
                  <a:rPr lang="zh-CN" altLang="en-US" dirty="0">
                    <a:solidFill>
                      <a:srgbClr val="1A3A5C"/>
                    </a:solidFill>
                    <a:ea typeface="Cambria Math"/>
                    <a:cs typeface="Cambria Math"/>
                  </a:rPr>
                  <a:t>目标函数：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i="1" dirty="0">
                            <a:solidFill>
                              <a:srgbClr val="1A3A5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zh-CN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zh-CN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zh-CN" altLang="zh-CN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zh-CN" altLang="zh-CN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zh-CN" altLang="zh-CN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zh-CN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zh-CN" altLang="zh-CN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zh-CN" altLang="zh-CN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zh-CN" altLang="zh-CN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𝑇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zh-CN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altLang="zh-CN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𝑡</m:t>
                            </m:r>
                            <m:r>
                              <a:rPr lang="zh-CN" altLang="zh-CN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zh-CN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𝑇</m:t>
                            </m:r>
                          </m:sup>
                          <m:e>
                            <m:r>
                              <a:rPr lang="zh-CN" altLang="zh-CN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𝐵</m:t>
                            </m:r>
                            <m:func>
                              <m:funcPr>
                                <m:ctrlPr>
                                  <a:rPr lang="zh-CN" altLang="zh-CN" i="1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zh-CN" altLang="zh-CN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zh-CN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zh-CN" altLang="zh-CN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zh-CN" altLang="zh-CN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zh-CN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1+</m:t>
                                    </m:r>
                                    <m:f>
                                      <m:fPr>
                                        <m:ctrlPr>
                                          <a:rPr lang="zh-CN" altLang="zh-CN" i="1" dirty="0">
                                            <a:solidFill>
                                              <a:srgbClr val="1A3A5C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zh-CN" altLang="zh-CN" dirty="0">
                                                <a:solidFill>
                                                  <a:srgbClr val="1A3A5C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zh-CN" dirty="0">
                                                <a:solidFill>
                                                  <a:srgbClr val="1A3A5C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zh-CN" dirty="0">
                                                <a:solidFill>
                                                  <a:srgbClr val="1A3A5C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zh-CN" altLang="zh-CN" dirty="0">
                                                <a:solidFill>
                                                  <a:srgbClr val="1A3A5C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zh-CN" dirty="0">
                                                <a:solidFill>
                                                  <a:srgbClr val="1A3A5C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zh-CN" dirty="0">
                                                <a:solidFill>
                                                  <a:srgbClr val="1A3A5C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zh-CN" altLang="zh-CN" dirty="0">
                                            <a:solidFill>
                                              <a:srgbClr val="1A3A5C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altLang="zh-CN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  <m:r>
                              <a:rPr lang="zh-CN" altLang="zh-CN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𝑡</m:t>
                            </m:r>
                          </m:e>
                        </m:nary>
                      </m:e>
                    </m:func>
                  </m:oMath>
                </a14:m>
                <a:endParaRPr lang="zh-CN" alt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zh-CN" altLang="zh-CN" dirty="0">
                          <a:solidFill>
                            <a:srgbClr val="2B2F3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a:rPr lang="zh-CN" altLang="zh-CN" dirty="0">
                          <a:solidFill>
                            <a:srgbClr val="2B2F3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</m:t>
                      </m:r>
                      <m:r>
                        <m:rPr>
                          <m:sty m:val="p"/>
                        </m:rPr>
                        <a:rPr lang="zh-CN" altLang="zh-CN" dirty="0">
                          <a:solidFill>
                            <a:srgbClr val="2B2F3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a:rPr lang="zh-CN" altLang="zh-CN" dirty="0">
                          <a:solidFill>
                            <a:srgbClr val="2B2F3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.  0≤</m:t>
                      </m:r>
                      <m:sSub>
                        <m:sSubPr>
                          <m:ctrlPr>
                            <a:rPr lang="zh-CN" altLang="zh-CN" dirty="0">
                              <a:solidFill>
                                <a:srgbClr val="2B2F3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zh-CN" altLang="zh-CN" dirty="0">
                              <a:solidFill>
                                <a:srgbClr val="2B2F3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𝑝</m:t>
                          </m:r>
                        </m:e>
                        <m:sub>
                          <m:r>
                            <a:rPr lang="zh-CN" altLang="zh-CN" dirty="0">
                              <a:solidFill>
                                <a:srgbClr val="2B2F3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zh-CN" altLang="zh-CN" dirty="0">
                          <a:solidFill>
                            <a:srgbClr val="2B2F3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sSub>
                        <m:sSubPr>
                          <m:ctrlPr>
                            <a:rPr lang="zh-CN" altLang="zh-CN" dirty="0">
                              <a:solidFill>
                                <a:srgbClr val="2B2F3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zh-CN" altLang="zh-CN" dirty="0">
                              <a:solidFill>
                                <a:srgbClr val="2B2F3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𝑝</m:t>
                          </m:r>
                        </m:e>
                        <m:sub>
                          <m:func>
                            <m:funcPr>
                              <m:ctrlPr>
                                <a:rPr lang="zh-CN" altLang="zh-CN" dirty="0">
                                  <a:solidFill>
                                    <a:srgbClr val="2B2F36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zh-CN" dirty="0">
                                  <a:solidFill>
                                    <a:srgbClr val="2B2F36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fName>
                            <m:e/>
                          </m:func>
                        </m:sub>
                      </m:sSub>
                      <m:r>
                        <a:rPr lang="zh-CN" altLang="zh-CN" dirty="0">
                          <a:solidFill>
                            <a:srgbClr val="2B2F3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,  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dirty="0">
                              <a:solidFill>
                                <a:srgbClr val="2B2F3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altLang="zh-CN" dirty="0">
                              <a:solidFill>
                                <a:srgbClr val="2B2F3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  <m:r>
                            <a:rPr lang="zh-CN" altLang="zh-CN" dirty="0">
                              <a:solidFill>
                                <a:srgbClr val="2B2F3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=1</m:t>
                          </m:r>
                        </m:sub>
                        <m:sup>
                          <m:r>
                            <a:rPr lang="zh-CN" altLang="zh-CN" dirty="0">
                              <a:solidFill>
                                <a:srgbClr val="2B2F3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dirty="0">
                                  <a:solidFill>
                                    <a:srgbClr val="2B2F36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zh-CN" altLang="zh-CN" dirty="0">
                                  <a:solidFill>
                                    <a:srgbClr val="2B2F36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zh-CN" dirty="0">
                                  <a:solidFill>
                                    <a:srgbClr val="2B2F36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altLang="zh-CN" dirty="0">
                              <a:solidFill>
                                <a:srgbClr val="2B2F3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  <m:r>
                            <a:rPr lang="zh-CN" altLang="zh-CN" dirty="0">
                              <a:solidFill>
                                <a:srgbClr val="2B2F36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𝑡</m:t>
                          </m:r>
                        </m:e>
                      </m:nary>
                      <m:r>
                        <a:rPr lang="zh-CN" altLang="zh-CN" dirty="0">
                          <a:solidFill>
                            <a:srgbClr val="2B2F3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altLang="zh-CN" dirty="0">
                          <a:solidFill>
                            <a:srgbClr val="2B2F3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𝐸</m:t>
                      </m:r>
                    </m:oMath>
                  </m:oMathPara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3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76" y="3228701"/>
                <a:ext cx="11037201" cy="32212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604266" y="520700"/>
            <a:ext cx="10978134" cy="288925"/>
            <a:chOff x="604266" y="520700"/>
            <a:chExt cx="10978134" cy="28892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20700"/>
              <a:ext cx="994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P05 · 参数配置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94360" y="1041400"/>
            <a:ext cx="4937455" cy="961644"/>
            <a:chOff x="594360" y="1041400"/>
            <a:chExt cx="4937455" cy="961644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041400"/>
              <a:ext cx="153888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实验参数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1651000"/>
              <a:ext cx="49313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对标 5G NR 与高铁场景，实验落在信道灵敏区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params-table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6829113"/>
                  </p:ext>
                </p:extLst>
              </p:nvPr>
            </p:nvGraphicFramePr>
            <p:xfrm>
              <a:off x="609600" y="2133600"/>
              <a:ext cx="10972800" cy="3143250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2667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432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1625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zh-CN" sz="1500" b="1" dirty="0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参数</a:t>
                          </a:r>
                        </a:p>
                      </a:txBody>
                      <a:tcPr marL="114300" marR="114300" marT="95250" marB="9525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solidFill>
                          <a:schemeClr val="l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500" b="1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取值</a:t>
                          </a:r>
                        </a:p>
                      </a:txBody>
                      <a:tcPr marL="114300" marR="114300" marT="95250" marB="9525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solidFill>
                          <a:schemeClr val="l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500" b="1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物理含义</a:t>
                          </a:r>
                        </a:p>
                      </a:txBody>
                      <a:tcPr marL="114300" marR="114300" marT="95250" marB="9525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solidFill>
                          <a:schemeClr val="l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r>
                            <a:rPr lang="zh-CN" sz="1500" b="1" dirty="0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载频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altLang="en-US" sz="1500" b="1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500" b="1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500" b="1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oMath>
                          </a14:m>
                          <a:endParaRPr lang="zh-CN" sz="1500" b="1" dirty="0">
                            <a:solidFill>
                              <a:schemeClr val="accent1"/>
                            </a:solidFill>
                            <a:latin typeface="Arial"/>
                            <a:ea typeface="Microsoft YaHei"/>
                            <a:cs typeface="Arial"/>
                          </a:endParaRP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2.0 GHz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35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Sub-6 GHz，贴合高铁蜂窝通信场景</a:t>
                          </a:r>
                        </a:p>
                      </a:txBody>
                      <a:tcPr marL="114300" marR="114300" marT="103822" marB="103822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r>
                            <a:rPr lang="zh-CN" sz="1500" b="1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带宽 B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10 MHz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35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5G NR FR1 标准带宽配置</a:t>
                          </a:r>
                        </a:p>
                      </a:txBody>
                      <a:tcPr marL="114300" marR="114300" marT="103822" marB="103822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r>
                            <a:rPr lang="zh-CN" sz="1500" b="1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时隙长度 Δt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1 ms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350" b="0" dirty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30 km/h 相干时间 ≈ 7.6 ms，</a:t>
                          </a:r>
                          <a:r>
                            <a:rPr lang="en-US" altLang="zh-CN" sz="1350" b="0" dirty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350km/h </a:t>
                          </a:r>
                          <a:r>
                            <a:rPr lang="zh-CN" altLang="en-US" sz="1350" b="0" dirty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相干时间 </a:t>
                          </a:r>
                          <a:r>
                            <a:rPr lang="zh-CN" altLang="zh-CN" sz="1350" b="0" dirty="0">
                              <a:solidFill>
                                <a:schemeClr val="dk1"/>
                              </a:solidFill>
                              <a:latin typeface="+mn-lt"/>
                              <a:ea typeface="Microsoft YaHei"/>
                              <a:cs typeface="+mn-cs"/>
                            </a:rPr>
                            <a:t>≈ </a:t>
                          </a:r>
                          <a:r>
                            <a:rPr lang="en-US" altLang="zh-CN" sz="1350" b="0" dirty="0">
                              <a:solidFill>
                                <a:schemeClr val="dk1"/>
                              </a:solidFill>
                              <a:latin typeface="+mn-lt"/>
                              <a:ea typeface="Microsoft YaHei"/>
                              <a:cs typeface="+mn-cs"/>
                            </a:rPr>
                            <a:t>0.65ms</a:t>
                          </a:r>
                          <a:endParaRPr lang="zh-CN" sz="1350" b="0" dirty="0">
                            <a:solidFill>
                              <a:schemeClr val="dk1"/>
                            </a:solidFill>
                            <a:latin typeface="Arial"/>
                            <a:ea typeface="Microsoft YaHei"/>
                            <a:cs typeface="Arial"/>
                          </a:endParaRPr>
                        </a:p>
                      </a:txBody>
                      <a:tcPr marL="114300" marR="114300" marT="103822" marB="103822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r>
                            <a:rPr lang="zh-CN" sz="1500" b="1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噪声功率 N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1×10⁻⁸ W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35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实验标定值：中位 SNR ≈ 0 dB，落在信道灵敏区</a:t>
                          </a:r>
                        </a:p>
                      </a:txBody>
                      <a:tcPr marL="114300" marR="114300" marT="103822" marB="103822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r>
                            <a:rPr lang="zh-CN" sz="1500" b="1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峰值功率 p_max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50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0.2 W（23 dBm）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35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5G UE 典型最大发射功率</a:t>
                          </a:r>
                        </a:p>
                      </a:txBody>
                      <a:tcPr marL="114300" marR="114300" marT="103822" marB="103822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r>
                            <a:rPr lang="zh-CN" sz="1500" b="1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平均功率约束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50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0.05 W（17 dBm）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350" b="0" dirty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p_max / avg = 4，保留机会主义发射空间</a:t>
                          </a:r>
                        </a:p>
                      </a:txBody>
                      <a:tcPr marL="114300" marR="114300" marT="103822" marB="103822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params-table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6829113"/>
                  </p:ext>
                </p:extLst>
              </p:nvPr>
            </p:nvGraphicFramePr>
            <p:xfrm>
              <a:off x="609600" y="2133600"/>
              <a:ext cx="10972800" cy="3143250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2667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432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1625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zh-CN" sz="1500" b="1" dirty="0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参数</a:t>
                          </a:r>
                        </a:p>
                      </a:txBody>
                      <a:tcPr marL="114300" marR="114300" marT="95250" marB="9525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solidFill>
                          <a:schemeClr val="l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500" b="1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取值</a:t>
                          </a:r>
                        </a:p>
                      </a:txBody>
                      <a:tcPr marL="114300" marR="114300" marT="95250" marB="9525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solidFill>
                          <a:schemeClr val="l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500" b="1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物理含义</a:t>
                          </a:r>
                        </a:p>
                      </a:txBody>
                      <a:tcPr marL="114300" marR="114300" marT="95250" marB="9525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solidFill>
                          <a:schemeClr val="l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t="-101351" r="-311187" b="-497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2.0 GHz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35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Sub-6 GHz，贴合高铁蜂窝通信场景</a:t>
                          </a:r>
                        </a:p>
                      </a:txBody>
                      <a:tcPr marL="114300" marR="114300" marT="103822" marB="103822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r>
                            <a:rPr lang="zh-CN" sz="1500" b="1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带宽 B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10 MHz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35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5G NR FR1 标准带宽配置</a:t>
                          </a:r>
                        </a:p>
                      </a:txBody>
                      <a:tcPr marL="114300" marR="114300" marT="103822" marB="103822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r>
                            <a:rPr lang="zh-CN" sz="1500" b="1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时隙长度 Δt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1 ms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350" b="0" dirty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30 km/h 相干时间 ≈ 7.6 ms，</a:t>
                          </a:r>
                          <a:r>
                            <a:rPr lang="en-US" altLang="zh-CN" sz="1350" b="0" dirty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350km/h </a:t>
                          </a:r>
                          <a:r>
                            <a:rPr lang="zh-CN" altLang="en-US" sz="1350" b="0" dirty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相干时间 </a:t>
                          </a:r>
                          <a:r>
                            <a:rPr lang="zh-CN" altLang="zh-CN" sz="1350" b="0" dirty="0">
                              <a:solidFill>
                                <a:schemeClr val="dk1"/>
                              </a:solidFill>
                              <a:latin typeface="+mn-lt"/>
                              <a:ea typeface="Microsoft YaHei"/>
                              <a:cs typeface="+mn-cs"/>
                            </a:rPr>
                            <a:t>≈ </a:t>
                          </a:r>
                          <a:r>
                            <a:rPr lang="en-US" altLang="zh-CN" sz="1350" b="0" dirty="0">
                              <a:solidFill>
                                <a:schemeClr val="dk1"/>
                              </a:solidFill>
                              <a:latin typeface="+mn-lt"/>
                              <a:ea typeface="Microsoft YaHei"/>
                              <a:cs typeface="+mn-cs"/>
                            </a:rPr>
                            <a:t>0.65ms</a:t>
                          </a:r>
                          <a:endParaRPr lang="zh-CN" sz="1350" b="0" dirty="0">
                            <a:solidFill>
                              <a:schemeClr val="dk1"/>
                            </a:solidFill>
                            <a:latin typeface="Arial"/>
                            <a:ea typeface="Microsoft YaHei"/>
                            <a:cs typeface="Arial"/>
                          </a:endParaRPr>
                        </a:p>
                      </a:txBody>
                      <a:tcPr marL="114300" marR="114300" marT="103822" marB="103822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r>
                            <a:rPr lang="zh-CN" sz="1500" b="1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噪声功率 N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1×10⁻⁸ W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35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实验标定值：中位 SNR ≈ 0 dB，落在信道灵敏区</a:t>
                          </a:r>
                        </a:p>
                      </a:txBody>
                      <a:tcPr marL="114300" marR="114300" marT="103822" marB="103822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r>
                            <a:rPr lang="zh-CN" sz="1500" b="1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峰值功率 p_max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50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0.2 W（23 dBm）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35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5G UE 典型最大发射功率</a:t>
                          </a:r>
                        </a:p>
                      </a:txBody>
                      <a:tcPr marL="114300" marR="114300" marT="103822" marB="103822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47675">
                    <a:tc>
                      <a:txBody>
                        <a:bodyPr/>
                        <a:lstStyle/>
                        <a:p>
                          <a:r>
                            <a:rPr lang="zh-CN" sz="1500" b="1">
                              <a:solidFill>
                                <a:schemeClr val="accent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平均功率约束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500" b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0.05 W（17 dBm）</a:t>
                          </a:r>
                        </a:p>
                      </a:txBody>
                      <a:tcPr marL="114300" marR="114300" marT="90487" marB="90487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sz="1350" b="0" dirty="0">
                              <a:solidFill>
                                <a:schemeClr val="dk1"/>
                              </a:solidFill>
                              <a:latin typeface="Arial"/>
                              <a:ea typeface="Microsoft YaHei"/>
                              <a:cs typeface="Arial"/>
                            </a:rPr>
                            <a:t>p_max / avg = 4，保留机会主义发射空间</a:t>
                          </a:r>
                        </a:p>
                      </a:txBody>
                      <a:tcPr marL="114300" marR="114300" marT="103822" marB="103822" anchor="ctr">
                        <a:lnL>
                          <a:noFill/>
                        </a:lnL>
                        <a:lnR>
                          <a:noFill/>
                        </a:lnR>
                        <a:lnT w="9525" cap="flat" cmpd="sng" algn="ctr">
                          <a:solidFill>
                            <a:schemeClr val="accent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>
                          <a:solidFill>
                            <a:schemeClr val="accent6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0" name="table-source"/>
          <p:cNvGrpSpPr/>
          <p:nvPr/>
        </p:nvGrpSpPr>
        <p:grpSpPr>
          <a:xfrm>
            <a:off x="609600" y="6191140"/>
            <a:ext cx="3932358" cy="205359"/>
            <a:chOff x="609600" y="6086373"/>
            <a:chExt cx="393235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609600" y="6086373"/>
              <a:ext cx="39323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来源：config.ipynb · 参数推导与场景论证见项目 README §2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45">
            <a:extLst>
              <a:ext uri="{FF2B5EF4-FFF2-40B4-BE49-F238E27FC236}">
                <a16:creationId xmlns:a16="http://schemas.microsoft.com/office/drawing/2014/main" id="{22C61088-9A60-1504-AB00-E1E6B46B86A0}"/>
              </a:ext>
            </a:extLst>
          </p:cNvPr>
          <p:cNvSpPr/>
          <p:nvPr/>
        </p:nvSpPr>
        <p:spPr>
          <a:xfrm>
            <a:off x="501097" y="2834136"/>
            <a:ext cx="3621862" cy="2585379"/>
          </a:xfrm>
          <a:prstGeom prst="rect">
            <a:avLst/>
          </a:prstGeom>
          <a:solidFill>
            <a:srgbClr val="F4F6F8"/>
          </a:solidFill>
          <a:ln>
            <a:noFill/>
          </a:ln>
        </p:spPr>
      </p:sp>
      <p:grpSp>
        <p:nvGrpSpPr>
          <p:cNvPr id="4" name="page-header"/>
          <p:cNvGrpSpPr/>
          <p:nvPr/>
        </p:nvGrpSpPr>
        <p:grpSpPr>
          <a:xfrm>
            <a:off x="604266" y="520700"/>
            <a:ext cx="10978134" cy="288925"/>
            <a:chOff x="604266" y="520700"/>
            <a:chExt cx="10978134" cy="28892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20700"/>
              <a:ext cx="122148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</a:t>
              </a:r>
              <a:r>
                <a:rPr lang="en-US" altLang="zh-CN" sz="1050" dirty="0">
                  <a:solidFill>
                    <a:schemeClr val="accent5"/>
                  </a:solidFill>
                </a:rPr>
                <a:t>6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· Sionna </a:t>
              </a:r>
              <a:r>
                <a:rPr lang="zh-CN" altLang="en-US" sz="1050" dirty="0">
                  <a:solidFill>
                    <a:schemeClr val="accent5"/>
                  </a:solidFill>
                </a:rPr>
                <a:t>仿真器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94360" y="1041400"/>
            <a:ext cx="3528599" cy="886599"/>
            <a:chOff x="594360" y="1041400"/>
            <a:chExt cx="3528599" cy="886599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041400"/>
              <a:ext cx="243977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000" b="1" dirty="0">
                  <a:solidFill>
                    <a:schemeClr val="accent1"/>
                  </a:solidFill>
                </a:rPr>
                <a:t>Why Sionna?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1651000"/>
              <a:ext cx="352250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NVIDIA 开源 · 3GPP 兼容 · </a:t>
              </a:r>
              <a:r>
                <a:rPr lang="zh-CN" altLang="en-US" dirty="0">
                  <a:solidFill>
                    <a:schemeClr val="accent2"/>
                  </a:solidFill>
                </a:rPr>
                <a:t>可复现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our-role"/>
          <p:cNvGrpSpPr/>
          <p:nvPr/>
        </p:nvGrpSpPr>
        <p:grpSpPr>
          <a:xfrm>
            <a:off x="517643" y="2509250"/>
            <a:ext cx="3840286" cy="2852310"/>
            <a:chOff x="6503059" y="2571494"/>
            <a:chExt cx="4926941" cy="2463802"/>
          </a:xfrm>
        </p:grpSpPr>
        <p:sp>
          <p:nvSpPr>
            <p:cNvPr id="31" name="Line 31"/>
            <p:cNvSpPr/>
            <p:nvPr/>
          </p:nvSpPr>
          <p:spPr>
            <a:xfrm>
              <a:off x="6553200" y="28003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03059" y="2571494"/>
              <a:ext cx="106975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离线</a:t>
              </a:r>
              <a:r>
                <a:rPr lang="zh-CN" altLang="en-US" sz="1350" dirty="0">
                  <a:solidFill>
                    <a:schemeClr val="dk1"/>
                  </a:solidFill>
                </a:rPr>
                <a:t>生成信道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46342" y="3187700"/>
              <a:ext cx="35610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TDL-C 剖面采样（3GPP NLOS 城区宏站）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6342" y="3435350"/>
              <a:ext cx="32982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Sum-of-Sinusoids 多普勒（20 正弦）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46342" y="3683000"/>
              <a:ext cx="2031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窄带合成 + 路损 × 阴影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6"/>
                <p:cNvSpPr txBox="1"/>
                <p:nvPr/>
              </p:nvSpPr>
              <p:spPr>
                <a:xfrm>
                  <a:off x="6546342" y="3930650"/>
                  <a:ext cx="2052941" cy="1794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marL="145732" indent="-145732" algn="l">
                    <a:buClr>
                      <a:schemeClr val="dk1"/>
                    </a:buClr>
                    <a:buSzTx/>
                    <a:buFontTx/>
                    <a:buChar char="•"/>
                  </a:pPr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ACF 验证 J0²(</a:t>
                  </a:r>
                  <a14:m>
                    <m:oMath xmlns:m="http://schemas.openxmlformats.org/officeDocument/2006/math">
                      <m:r>
                        <a:rPr lang="en-US" altLang="zh-CN" sz="1350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lang="zh-CN" altLang="en-US" sz="135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𝜋</m:t>
                      </m:r>
                      <m:sSub>
                        <m:sSubPr>
                          <m:ctrlP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sub>
                      </m:sSub>
                      <m:r>
                        <a:rPr lang="en-US" altLang="zh-CN" sz="1350" i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·</m:t>
                      </m:r>
                      <m:r>
                        <a:rPr lang="zh-CN" altLang="en-US" sz="135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𝜏</m:t>
                      </m:r>
                    </m:oMath>
                  </a14:m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) 理论</a:t>
                  </a:r>
                </a:p>
              </p:txBody>
            </p:sp>
          </mc:Choice>
          <mc:Fallback xmlns="">
            <p:sp>
              <p:nvSpPr>
                <p:cNvPr id="36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6342" y="3930650"/>
                  <a:ext cx="2052941" cy="179452"/>
                </a:xfrm>
                <a:prstGeom prst="rect">
                  <a:avLst/>
                </a:prstGeom>
                <a:blipFill>
                  <a:blip r:embed="rId2"/>
                  <a:stretch>
                    <a:fillRect l="-6084" t="-29412" r="-46768" b="-5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7"/>
            <p:cNvSpPr txBox="1"/>
            <p:nvPr/>
          </p:nvSpPr>
          <p:spPr>
            <a:xfrm>
              <a:off x="6547104" y="4286250"/>
              <a:ext cx="3049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下游训练/推理仅消费预生成的 npz 数据集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47104" y="4476750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1000 条训练 + 100 条测试轨迹/速度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47104" y="480060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固定随机种子保证可复现</a:t>
              </a:r>
            </a:p>
          </p:txBody>
        </p:sp>
      </p:grpSp>
      <p:grpSp>
        <p:nvGrpSpPr>
          <p:cNvPr id="45" name="why-sionna"/>
          <p:cNvGrpSpPr/>
          <p:nvPr/>
        </p:nvGrpSpPr>
        <p:grpSpPr>
          <a:xfrm>
            <a:off x="491613" y="5612325"/>
            <a:ext cx="11648777" cy="1064721"/>
            <a:chOff x="609599" y="5257800"/>
            <a:chExt cx="11195648" cy="990600"/>
          </a:xfrm>
        </p:grpSpPr>
        <p:sp>
          <p:nvSpPr>
            <p:cNvPr id="41" name="Rectangle 41"/>
            <p:cNvSpPr/>
            <p:nvPr/>
          </p:nvSpPr>
          <p:spPr>
            <a:xfrm>
              <a:off x="609599" y="5257800"/>
              <a:ext cx="10569188" cy="99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93763" y="5583238"/>
              <a:ext cx="166688" cy="111125"/>
            </a:xfrm>
            <a:custGeom>
              <a:avLst/>
              <a:gdLst/>
              <a:ahLst/>
              <a:cxnLst/>
              <a:rect l="l" t="t" r="r" b="b"/>
              <a:pathLst>
                <a:path w="166688" h="111125">
                  <a:moveTo>
                    <a:pt x="0" y="55563"/>
                  </a:moveTo>
                  <a:lnTo>
                    <a:pt x="55563" y="111125"/>
                  </a:lnTo>
                  <a:lnTo>
                    <a:pt x="166688" y="0"/>
                  </a:lnTo>
                </a:path>
              </a:pathLst>
            </a:custGeom>
            <a:noFill/>
            <a:ln w="22225">
              <a:solidFill>
                <a:srgbClr val="FFFFF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211580" y="5556250"/>
              <a:ext cx="1741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为什么选 Sionna？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1342" y="5873750"/>
              <a:ext cx="10973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可复现（固定 seed） · 3GPP 标准剖面（学术认可度高） · Python/PyTorch 原生易集成 · 替代解析 Rayleigh 模型更贴近真实信道统计</a:t>
              </a:r>
            </a:p>
          </p:txBody>
        </p: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DF20776E-24ED-CB61-DA68-5865B3429849}"/>
              </a:ext>
            </a:extLst>
          </p:cNvPr>
          <p:cNvSpPr txBox="1"/>
          <p:nvPr/>
        </p:nvSpPr>
        <p:spPr>
          <a:xfrm>
            <a:off x="491613" y="1975886"/>
            <a:ext cx="38663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 dirty="0">
                <a:solidFill>
                  <a:schemeClr val="accent5"/>
                </a:solidFill>
              </a:rPr>
              <a:t>⚠ 本项目不用 Ray Tracing 组件</a:t>
            </a:r>
            <a:r>
              <a:rPr lang="zh-CN" altLang="en-US" sz="1200" dirty="0">
                <a:solidFill>
                  <a:schemeClr val="accent5"/>
                </a:solidFill>
              </a:rPr>
              <a:t>，</a:t>
            </a:r>
            <a:r>
              <a:rPr lang="zh-CN" altLang="zh-CN" sz="1200" dirty="0">
                <a:solidFill>
                  <a:schemeClr val="accent5"/>
                </a:solidFill>
              </a:rPr>
              <a:t>仅用 PHY/SYS 模块</a:t>
            </a:r>
          </a:p>
        </p:txBody>
      </p:sp>
      <p:sp>
        <p:nvSpPr>
          <p:cNvPr id="64" name="TextBox 33">
            <a:extLst>
              <a:ext uri="{FF2B5EF4-FFF2-40B4-BE49-F238E27FC236}">
                <a16:creationId xmlns:a16="http://schemas.microsoft.com/office/drawing/2014/main" id="{05D00B64-D086-7E8E-76BA-056BFA275392}"/>
              </a:ext>
            </a:extLst>
          </p:cNvPr>
          <p:cNvSpPr txBox="1"/>
          <p:nvPr/>
        </p:nvSpPr>
        <p:spPr>
          <a:xfrm>
            <a:off x="558038" y="2924756"/>
            <a:ext cx="1358705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45732" indent="-145732">
              <a:buClr>
                <a:schemeClr val="dk1"/>
              </a:buClr>
              <a:buFontTx/>
              <a:buChar char="•"/>
            </a:pPr>
            <a:r>
              <a:rPr lang="zh-CN" altLang="en-US" sz="1350" dirty="0">
                <a:solidFill>
                  <a:schemeClr val="dk1"/>
                </a:solidFill>
              </a:rPr>
              <a:t>解耦信道与算法</a:t>
            </a:r>
            <a:endParaRPr lang="zh-CN" sz="135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380F5AC8-A325-001E-6498-749AD3C21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928" y="1424756"/>
            <a:ext cx="7160283" cy="4022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604266" y="520700"/>
            <a:ext cx="10978134" cy="288925"/>
            <a:chOff x="604266" y="520700"/>
            <a:chExt cx="10978134" cy="28892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20700"/>
              <a:ext cx="994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P07 · 信道建模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94360" y="1041400"/>
            <a:ext cx="8777728" cy="886599"/>
            <a:chOff x="594360" y="1041400"/>
            <a:chExt cx="8777728" cy="886599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041400"/>
              <a:ext cx="557845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信道建模：</a:t>
              </a:r>
              <a:r>
                <a:rPr lang="en-US" altLang="zh-CN" sz="3000" b="1" dirty="0" err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g_small</a:t>
              </a:r>
              <a:r>
                <a:rPr lang="zh-CN" alt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体现</a:t>
              </a:r>
              <a:r>
                <a:rPr lang="en-US" alt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Doppler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1651000"/>
              <a:ext cx="877163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大尺度定</a:t>
              </a:r>
              <a:r>
                <a:rPr lang="zh-CN" altLang="en-US" dirty="0">
                  <a:solidFill>
                    <a:schemeClr val="accent2"/>
                  </a:solidFill>
                </a:rPr>
                <a:t>偏平均衰落水平</a:t>
              </a:r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，小尺度定</a:t>
              </a:r>
              <a:r>
                <a:rPr lang="zh-CN" altLang="en-US" dirty="0">
                  <a:solidFill>
                    <a:schemeClr val="accent2"/>
                  </a:solidFill>
                </a:rPr>
                <a:t>快速时变特性</a:t>
              </a:r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；多普勒只改变小尺度的时间相关性</a:t>
              </a:r>
            </a:p>
          </p:txBody>
        </p:sp>
      </p:grpSp>
      <p:grpSp>
        <p:nvGrpSpPr>
          <p:cNvPr id="23" name="pipeline"/>
          <p:cNvGrpSpPr/>
          <p:nvPr/>
        </p:nvGrpSpPr>
        <p:grpSpPr>
          <a:xfrm>
            <a:off x="609600" y="2171700"/>
            <a:ext cx="9994087" cy="342900"/>
            <a:chOff x="609600" y="2171700"/>
            <a:chExt cx="9994087" cy="342900"/>
          </a:xfrm>
        </p:grpSpPr>
        <p:sp>
          <p:nvSpPr>
            <p:cNvPr id="8" name="Rectangle 8"/>
            <p:cNvSpPr/>
            <p:nvPr/>
          </p:nvSpPr>
          <p:spPr>
            <a:xfrm>
              <a:off x="609600" y="217170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904" y="2247900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配置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790700" y="2343150"/>
              <a:ext cx="152400" cy="1"/>
            </a:xfrm>
            <a:prstGeom prst="line">
              <a:avLst/>
            </a:prstGeom>
            <a:noFill/>
            <a:ln w="14288">
              <a:solidFill>
                <a:srgbClr val="5C6672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981200" y="2171700"/>
              <a:ext cx="180975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27504" y="2247900"/>
              <a:ext cx="1094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TDL-C 采样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829050" y="2343150"/>
              <a:ext cx="152400" cy="1"/>
            </a:xfrm>
            <a:prstGeom prst="line">
              <a:avLst/>
            </a:prstGeom>
            <a:noFill/>
            <a:ln w="14288">
              <a:solidFill>
                <a:srgbClr val="5C6672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019550" y="2171700"/>
              <a:ext cx="1571625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65854" y="224790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窄带合成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629275" y="2343150"/>
              <a:ext cx="152400" cy="1"/>
            </a:xfrm>
            <a:prstGeom prst="line">
              <a:avLst/>
            </a:prstGeom>
            <a:noFill/>
            <a:ln w="14288">
              <a:solidFill>
                <a:srgbClr val="5C6672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819775" y="2171700"/>
              <a:ext cx="161925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66079" y="2247900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路损 × 阴影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477125" y="2343150"/>
              <a:ext cx="152400" cy="1"/>
            </a:xfrm>
            <a:prstGeom prst="line">
              <a:avLst/>
            </a:prstGeom>
            <a:noFill/>
            <a:ln w="14288">
              <a:solidFill>
                <a:srgbClr val="5C6672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67625" y="2171700"/>
              <a:ext cx="1666875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13929" y="2247900"/>
              <a:ext cx="8764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 npz 落盘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14154" y="224790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1000 条/速度</a:t>
              </a:r>
            </a:p>
          </p:txBody>
        </p:sp>
      </p:grpSp>
      <p:grpSp>
        <p:nvGrpSpPr>
          <p:cNvPr id="37" name="decomposition"/>
          <p:cNvGrpSpPr/>
          <p:nvPr/>
        </p:nvGrpSpPr>
        <p:grpSpPr>
          <a:xfrm>
            <a:off x="594360" y="2603500"/>
            <a:ext cx="5120640" cy="3007378"/>
            <a:chOff x="594360" y="2603500"/>
            <a:chExt cx="5120640" cy="2771457"/>
          </a:xfrm>
        </p:grpSpPr>
        <p:sp>
          <p:nvSpPr>
            <p:cNvPr id="24" name="TextBox 24"/>
            <p:cNvSpPr txBox="1"/>
            <p:nvPr/>
          </p:nvSpPr>
          <p:spPr>
            <a:xfrm>
              <a:off x="601980" y="260350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三项相乘：谁带多普勒？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p07-gain-formula"/>
                <p:cNvSpPr txBox="1">
                  <a:spLocks noGrp="1"/>
                </p:cNvSpPr>
                <p:nvPr/>
              </p:nvSpPr>
              <p:spPr>
                <a:xfrm>
                  <a:off x="594360" y="2966541"/>
                  <a:ext cx="2689403" cy="6117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rmAutofit fontScale="92500"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zh-CN" sz="165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zh-CN" sz="165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zh-CN" sz="1650" dirty="0">
                            <a:solidFill>
                              <a:srgbClr val="1A3A5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=1</m:t>
                        </m:r>
                        <m:sSup>
                          <m:sSupPr>
                            <m:ctrlPr>
                              <a:rPr lang="zh-CN" sz="165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zh-CN" sz="165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zh-CN" sz="1650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𝑃</m:t>
                                </m:r>
                                <m:sSub>
                                  <m:sSubPr>
                                    <m:ctrlPr>
                                      <a:rPr lang="zh-CN" sz="1650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sz="1650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zh-CN" sz="1650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𝜓</m:t>
                                </m:r>
                              </m:e>
                            </m:d>
                            <m:r>
                              <a:rPr lang="zh-CN" sz="165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/10</m:t>
                            </m:r>
                          </m:sup>
                        </m:sSup>
                        <m:r>
                          <a:rPr lang="zh-CN" sz="1650" dirty="0">
                            <a:solidFill>
                              <a:srgbClr val="1A3A5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sSup>
                          <m:sSupPr>
                            <m:ctrlPr>
                              <a:rPr lang="zh-CN" sz="1650" i="1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sz="1650" i="1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zh-CN" sz="1650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650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𝑝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zh-CN" sz="1650" dirty="0">
                                            <a:solidFill>
                                              <a:srgbClr val="1A3A5C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A3A5C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CN" sz="1650" dirty="0">
                                            <a:solidFill>
                                              <a:srgbClr val="1A3A5C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zh-CN" sz="1650" dirty="0">
                                            <a:solidFill>
                                              <a:srgbClr val="1A3A5C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A3A5C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zh-CN" sz="165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25" name="p07-gain-formula"/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60" y="2966541"/>
                  <a:ext cx="2689403" cy="611709"/>
                </a:xfrm>
                <a:prstGeom prst="rect">
                  <a:avLst/>
                </a:prstGeom>
                <a:blipFill>
                  <a:blip r:embed="rId2"/>
                  <a:stretch>
                    <a:fillRect l="-22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Line 28"/>
            <p:cNvSpPr/>
            <p:nvPr/>
          </p:nvSpPr>
          <p:spPr>
            <a:xfrm>
              <a:off x="609600" y="35814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2742" y="3683000"/>
              <a:ext cx="28623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路损 L_fs｜确定性趋势，随时隙变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4266" y="3930650"/>
              <a:ext cx="3230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最近点 64.5 dB；轨迹内摆幅 0.19 / 2.3 / 8.4 dB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42291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2742" y="4330700"/>
              <a:ext cx="2720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阴影 ψ｜每轨迹恒定，不随时隙变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4266" y="4578350"/>
              <a:ext cx="26894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 = 4 dB → 只平移 SNR，不影响时隙间分配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48768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2742" y="49784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小尺度｜随机起伏，多普勒唯一入口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6"/>
                <p:cNvSpPr txBox="1"/>
                <p:nvPr/>
              </p:nvSpPr>
              <p:spPr>
                <a:xfrm>
                  <a:off x="604266" y="5226050"/>
                  <a:ext cx="3699474" cy="1489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TDL-C 300 ns RMS · 20 正弦 ·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0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0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0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sub>
                      </m:sSub>
                    </m:oMath>
                  </a14:m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 =</a:t>
                  </a:r>
                  <a14:m>
                    <m:oMath xmlns:m="http://schemas.openxmlformats.org/officeDocument/2006/math">
                      <m:r>
                        <a:rPr lang="en-US" altLang="zh-CN" sz="105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r>
                        <a:rPr lang="en-US" altLang="zh-CN" sz="1050" i="0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sSub>
                        <m:sSubPr>
                          <m:ctrlPr>
                            <a:rPr lang="en-US" altLang="zh-CN" sz="105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altLang="zh-CN" sz="105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05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  <m:r>
                        <a:rPr lang="en-US" altLang="zh-CN" sz="1050" i="0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/</m:t>
                      </m:r>
                      <m:r>
                        <a:rPr lang="en-US" altLang="zh-CN" sz="105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</m:oMath>
                  </a14:m>
                  <a:r>
                    <a:rPr lang="en-US" alt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= </a:t>
                  </a:r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56 / 222 / 649 Hz</a:t>
                  </a:r>
                </a:p>
              </p:txBody>
            </p:sp>
          </mc:Choice>
          <mc:Fallback xmlns="">
            <p:sp>
              <p:nvSpPr>
                <p:cNvPr id="36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266" y="5226050"/>
                  <a:ext cx="3699474" cy="148907"/>
                </a:xfrm>
                <a:prstGeom prst="rect">
                  <a:avLst/>
                </a:prstGeom>
                <a:blipFill>
                  <a:blip r:embed="rId3"/>
                  <a:stretch>
                    <a:fillRect l="-2142" t="-26923" r="-1318" b="-5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acf-figure"/>
          <p:cNvGrpSpPr/>
          <p:nvPr/>
        </p:nvGrpSpPr>
        <p:grpSpPr>
          <a:xfrm>
            <a:off x="6571572" y="2621731"/>
            <a:ext cx="5105400" cy="3798381"/>
            <a:chOff x="6597944" y="2622474"/>
            <a:chExt cx="5634208" cy="3953226"/>
          </a:xfrm>
        </p:grpSpPr>
        <p:sp>
          <p:nvSpPr>
            <p:cNvPr id="38" name="TextBox 38"/>
            <p:cNvSpPr txBox="1"/>
            <p:nvPr/>
          </p:nvSpPr>
          <p:spPr>
            <a:xfrm>
              <a:off x="8254550" y="2622474"/>
              <a:ext cx="25715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验证：ACF 与 J0² 理论吻合</a:t>
              </a:r>
            </a:p>
          </p:txBody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97944" y="2848963"/>
              <a:ext cx="5634208" cy="3521379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7681384" y="6370341"/>
              <a:ext cx="37179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lag-1 实测 0.94 / 0.32 / 0.15，与 J0² 一致（3 位小数）</a:t>
              </a:r>
            </a:p>
          </p:txBody>
        </p:sp>
      </p:grpSp>
      <p:grpSp>
        <p:nvGrpSpPr>
          <p:cNvPr id="47" name="takeaway-note"/>
          <p:cNvGrpSpPr/>
          <p:nvPr/>
        </p:nvGrpSpPr>
        <p:grpSpPr>
          <a:xfrm>
            <a:off x="640556" y="5765006"/>
            <a:ext cx="6491126" cy="296577"/>
            <a:chOff x="640556" y="5765006"/>
            <a:chExt cx="6491126" cy="296577"/>
          </a:xfrm>
        </p:grpSpPr>
        <p:grpSp>
          <p:nvGrpSpPr>
            <p:cNvPr id="45" name="Group 45"/>
            <p:cNvGrpSpPr/>
            <p:nvPr/>
          </p:nvGrpSpPr>
          <p:grpSpPr>
            <a:xfrm>
              <a:off x="640556" y="5765006"/>
              <a:ext cx="185737" cy="185737"/>
              <a:chOff x="640556" y="5765006"/>
              <a:chExt cx="185737" cy="185737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40556" y="5765006"/>
                <a:ext cx="185737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2868">
                    <a:moveTo>
                      <a:pt x="0" y="92868"/>
                    </a:moveTo>
                    <a:lnTo>
                      <a:pt x="10319" y="92868"/>
                    </a:lnTo>
                    <a:moveTo>
                      <a:pt x="92868" y="0"/>
                    </a:moveTo>
                    <a:lnTo>
                      <a:pt x="92868" y="10319"/>
                    </a:lnTo>
                    <a:moveTo>
                      <a:pt x="175418" y="92868"/>
                    </a:moveTo>
                    <a:lnTo>
                      <a:pt x="185737" y="92868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8" y="26829"/>
                    </a:moveTo>
                    <a:lnTo>
                      <a:pt x="151685" y="34052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7456" y="5806281"/>
                <a:ext cx="11193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7" h="144462">
                    <a:moveTo>
                      <a:pt x="25012" y="92868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7" y="56346"/>
                      <a:pt x="104691" y="79544"/>
                      <a:pt x="86925" y="92868"/>
                    </a:cubicBezTo>
                    <a:cubicBezTo>
                      <a:pt x="78754" y="100957"/>
                      <a:pt x="74922" y="112452"/>
                      <a:pt x="76606" y="123825"/>
                    </a:cubicBezTo>
                    <a:cubicBezTo>
                      <a:pt x="76606" y="135222"/>
                      <a:pt x="67366" y="144462"/>
                      <a:pt x="55969" y="144462"/>
                    </a:cubicBezTo>
                    <a:cubicBezTo>
                      <a:pt x="44571" y="144462"/>
                      <a:pt x="35331" y="135222"/>
                      <a:pt x="35331" y="123825"/>
                    </a:cubicBezTo>
                    <a:cubicBezTo>
                      <a:pt x="37015" y="112452"/>
                      <a:pt x="33183" y="100957"/>
                      <a:pt x="25012" y="92868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09692" y="5909468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983742" y="5797550"/>
              <a:ext cx="6147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多普勒只改变小尺度项；大尺度 8.4 dB 摆幅可预测，阴影不影响时隙间分配</a:t>
              </a:r>
            </a:p>
          </p:txBody>
        </p:sp>
      </p:grpSp>
      <p:grpSp>
        <p:nvGrpSpPr>
          <p:cNvPr id="49" name="channel-source"/>
          <p:cNvGrpSpPr/>
          <p:nvPr/>
        </p:nvGrpSpPr>
        <p:grpSpPr>
          <a:xfrm>
            <a:off x="604266" y="6330950"/>
            <a:ext cx="6521615" cy="205359"/>
            <a:chOff x="604266" y="6330950"/>
            <a:chExt cx="6521615" cy="205359"/>
          </a:xfrm>
        </p:grpSpPr>
        <p:sp>
          <p:nvSpPr>
            <p:cNvPr id="48" name="TextBox 48"/>
            <p:cNvSpPr txBox="1"/>
            <p:nvPr/>
          </p:nvSpPr>
          <p:spPr>
            <a:xfrm>
              <a:off x="604266" y="6330950"/>
              <a:ext cx="65216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来源：channel/sionna_traces.py · g = 10^(−(PL+ψ)/10)·g_small（CPU 离线生成，固定随机种子）</a:t>
              </a: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24384085-150B-7921-87A6-828411FDFD37}"/>
              </a:ext>
            </a:extLst>
          </p:cNvPr>
          <p:cNvSpPr txBox="1"/>
          <p:nvPr/>
        </p:nvSpPr>
        <p:spPr>
          <a:xfrm>
            <a:off x="3283763" y="3176226"/>
            <a:ext cx="18341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accent5"/>
                </a:solidFill>
              </a:rPr>
              <a:t>(</a:t>
            </a:r>
            <a:r>
              <a:rPr lang="zh-CN" altLang="zh-CN" sz="1200" dirty="0">
                <a:solidFill>
                  <a:schemeClr val="accent5"/>
                </a:solidFill>
              </a:rPr>
              <a:t>a_p 为第 p 条径复系数</a:t>
            </a:r>
            <a:r>
              <a:rPr lang="en-US" altLang="zh-CN" sz="1200" dirty="0">
                <a:solidFill>
                  <a:schemeClr val="accent5"/>
                </a:solidFill>
              </a:rPr>
              <a:t>)</a:t>
            </a:r>
            <a:endParaRPr lang="zh-CN" altLang="zh-CN" sz="12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604266" y="520700"/>
            <a:ext cx="10978134" cy="288925"/>
            <a:chOff x="604266" y="520700"/>
            <a:chExt cx="10978134" cy="28892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20700"/>
              <a:ext cx="11356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P08 · 多普勒建模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94360" y="1041400"/>
            <a:ext cx="7945701" cy="886599"/>
            <a:chOff x="594360" y="1041400"/>
            <a:chExt cx="7945701" cy="8865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5"/>
                <p:cNvSpPr txBox="1"/>
                <p:nvPr/>
              </p:nvSpPr>
              <p:spPr>
                <a:xfrm>
                  <a:off x="594360" y="1041400"/>
                  <a:ext cx="7945701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30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多普勒建模：Sionna 把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3000" b="1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3000" b="1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3000" b="1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sub>
                      </m:sSub>
                    </m:oMath>
                  </a14:m>
                  <a:r>
                    <a:rPr lang="zh-CN" sz="30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 藏进 SoS 相位旋转</a:t>
                  </a:r>
                </a:p>
              </p:txBody>
            </p:sp>
          </mc:Choice>
          <mc:Fallback xmlns="">
            <p:sp>
              <p:nvSpPr>
                <p:cNvPr id="5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60" y="1041400"/>
                  <a:ext cx="7945701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2993" t="-28947" r="-2149" b="-4868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6"/>
                <p:cNvSpPr txBox="1"/>
                <p:nvPr/>
              </p:nvSpPr>
              <p:spPr>
                <a:xfrm>
                  <a:off x="600456" y="1651000"/>
                  <a:ext cx="5751639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不跟踪波形，只跟踪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800" i="1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sub>
                      </m:sSub>
                    </m:oMath>
                  </a14:m>
                  <a:r>
                    <a:rPr lang="zh-CN" sz="180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：速度定它，相位旋它，J0² 验收</a:t>
                  </a:r>
                </a:p>
              </p:txBody>
            </p:sp>
          </mc:Choice>
          <mc:Fallback xmlns="">
            <p:sp>
              <p:nvSpPr>
                <p:cNvPr id="6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56" y="1651000"/>
                  <a:ext cx="575163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545" t="-28889" r="-1591" b="-511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doppler-three"/>
          <p:cNvGrpSpPr/>
          <p:nvPr/>
        </p:nvGrpSpPr>
        <p:grpSpPr>
          <a:xfrm>
            <a:off x="601980" y="2209800"/>
            <a:ext cx="10146113" cy="1015746"/>
            <a:chOff x="601980" y="2209800"/>
            <a:chExt cx="10146113" cy="1015746"/>
          </a:xfrm>
        </p:grpSpPr>
        <p:sp>
          <p:nvSpPr>
            <p:cNvPr id="8" name="Rectangle 8"/>
            <p:cNvSpPr/>
            <p:nvPr/>
          </p:nvSpPr>
          <p:spPr>
            <a:xfrm>
              <a:off x="609600" y="2209800"/>
              <a:ext cx="4572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1980" y="2413000"/>
              <a:ext cx="1608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唯一旋钮：速度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10"/>
                <p:cNvSpPr txBox="1"/>
                <p:nvPr/>
              </p:nvSpPr>
              <p:spPr>
                <a:xfrm>
                  <a:off x="602742" y="2711450"/>
                  <a:ext cx="973087" cy="2077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𝐷</m:t>
                            </m:r>
                          </m:sub>
                        </m:sSub>
                        <m:r>
                          <a:rPr lang="en-US" altLang="zh-CN" sz="1350" i="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lang="zh-CN" altLang="en-US" sz="135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  <m:r>
                          <a:rPr lang="en-US" altLang="zh-CN" sz="1350" i="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·</m:t>
                        </m:r>
                        <m:sSub>
                          <m:sSubPr>
                            <m:ctrlP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sz="1350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sz="1350" i="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/</m:t>
                        </m:r>
                        <m:r>
                          <a:rPr lang="zh-CN" altLang="en-US" sz="135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oMath>
                    </m:oMathPara>
                  </a14:m>
                  <a:endPara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742" y="2711450"/>
                  <a:ext cx="973087" cy="207749"/>
                </a:xfrm>
                <a:prstGeom prst="rect">
                  <a:avLst/>
                </a:prstGeom>
                <a:blipFill>
                  <a:blip r:embed="rId4"/>
                  <a:stretch>
                    <a:fillRect l="-5625" r="-1250" b="-3529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1"/>
            <p:cNvSpPr txBox="1"/>
            <p:nvPr/>
          </p:nvSpPr>
          <p:spPr>
            <a:xfrm>
              <a:off x="603504" y="2990850"/>
              <a:ext cx="1974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GHz → 56 / 222 / 649 Hz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171950" y="22098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00550" y="2209800"/>
              <a:ext cx="4572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392930" y="2413000"/>
              <a:ext cx="24166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不是一个频移，是一个谱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5"/>
                <p:cNvSpPr txBox="1"/>
                <p:nvPr/>
              </p:nvSpPr>
              <p:spPr>
                <a:xfrm>
                  <a:off x="4394454" y="2724150"/>
                  <a:ext cx="2159630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每径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sub>
                      </m:sSub>
                      <m:r>
                        <a:rPr lang="en-US" altLang="zh-CN" sz="1200" i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·</m:t>
                      </m:r>
                      <m:r>
                        <a:rPr lang="zh-CN" altLang="en-US" sz="120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𝑐𝑜𝑠</m:t>
                      </m:r>
                      <m:sSub>
                        <m:sSubPr>
                          <m:ctrlP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 → Jakes 谱 ±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sub>
                      </m:sSub>
                    </m:oMath>
                  </a14:m>
                  <a:endPara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4454" y="2724150"/>
                  <a:ext cx="2159630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4520" t="-30000" r="-565" b="-5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6"/>
            <p:cNvSpPr txBox="1"/>
            <p:nvPr/>
          </p:nvSpPr>
          <p:spPr>
            <a:xfrm>
              <a:off x="4394454" y="299085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多径叠加，无法逐散射体跟踪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962900" y="22098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191500" y="2209800"/>
              <a:ext cx="4572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83880" y="2413000"/>
              <a:ext cx="1902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藏进 SoS 相位旋转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20"/>
                <p:cNvSpPr txBox="1"/>
                <p:nvPr/>
              </p:nvSpPr>
              <p:spPr>
                <a:xfrm>
                  <a:off x="8185404" y="2724150"/>
                  <a:ext cx="2562689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20 个正弦，相位 </a:t>
                  </a:r>
                  <a14:m>
                    <m:oMath xmlns:m="http://schemas.openxmlformats.org/officeDocument/2006/math">
                      <m:r>
                        <a:rPr lang="en-US" altLang="zh-CN" sz="1200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lang="zh-CN" altLang="en-US" sz="120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𝜋</m:t>
                      </m:r>
                      <m:sSub>
                        <m:sSubPr>
                          <m:ctrlP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sub>
                      </m:sSub>
                      <m:r>
                        <a:rPr lang="en-US" altLang="zh-CN" sz="1200" i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·</m:t>
                      </m:r>
                      <m:r>
                        <a:rPr lang="zh-CN" altLang="en-US" sz="120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𝑐𝑜𝑠</m:t>
                      </m:r>
                      <m:sSub>
                        <m:sSubPr>
                          <m:ctrlP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b>
                      </m:sSub>
                      <m:r>
                        <a:rPr lang="en-US" altLang="zh-CN" sz="1200" i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·</m:t>
                      </m:r>
                      <m:r>
                        <a:rPr lang="zh-CN" altLang="en-US" sz="120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lang="en-US" altLang="zh-CN" sz="1200" i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𝜑</m:t>
                          </m:r>
                        </m:e>
                        <m:sub>
                          <m:r>
                            <a:rPr lang="zh-CN" altLang="en-US" sz="12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b>
                      </m:sSub>
                    </m:oMath>
                  </a14:m>
                  <a:endPara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0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5404" y="2724150"/>
                  <a:ext cx="2562689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3810" t="-30000" b="-5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1"/>
            <p:cNvSpPr txBox="1"/>
            <p:nvPr/>
          </p:nvSpPr>
          <p:spPr>
            <a:xfrm>
              <a:off x="8185404" y="299085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代码无 doppler 参数，只设速度</a:t>
              </a:r>
            </a:p>
          </p:txBody>
        </p:sp>
      </p:grpSp>
      <p:grpSp>
        <p:nvGrpSpPr>
          <p:cNvPr id="49" name="speed-table"/>
          <p:cNvGrpSpPr/>
          <p:nvPr/>
        </p:nvGrpSpPr>
        <p:grpSpPr>
          <a:xfrm>
            <a:off x="601980" y="3460750"/>
            <a:ext cx="5341620" cy="2472309"/>
            <a:chOff x="601980" y="3460750"/>
            <a:chExt cx="5341620" cy="2472309"/>
          </a:xfrm>
        </p:grpSpPr>
        <p:sp>
          <p:nvSpPr>
            <p:cNvPr id="23" name="TextBox 23"/>
            <p:cNvSpPr txBox="1"/>
            <p:nvPr/>
          </p:nvSpPr>
          <p:spPr>
            <a:xfrm>
              <a:off x="601980" y="34607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三条速度：同一个旋钮的三档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4"/>
                <p:cNvSpPr txBox="1"/>
                <p:nvPr/>
              </p:nvSpPr>
              <p:spPr>
                <a:xfrm>
                  <a:off x="602742" y="3778250"/>
                  <a:ext cx="4137286" cy="2077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</m:oMath>
                  </a14:m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 = 2 GHz，时隙 Δt = 1 ms，其余全部由 Sionna 推导</a:t>
                  </a:r>
                </a:p>
              </p:txBody>
            </p:sp>
          </mc:Choice>
          <mc:Fallback xmlns="">
            <p:sp>
              <p:nvSpPr>
                <p:cNvPr id="24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742" y="3778250"/>
                  <a:ext cx="4137286" cy="207749"/>
                </a:xfrm>
                <a:prstGeom prst="rect">
                  <a:avLst/>
                </a:prstGeom>
                <a:blipFill>
                  <a:blip r:embed="rId7"/>
                  <a:stretch>
                    <a:fillRect l="-2062" t="-29412" r="-1473" b="-5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5"/>
            <p:cNvSpPr txBox="1"/>
            <p:nvPr/>
          </p:nvSpPr>
          <p:spPr>
            <a:xfrm>
              <a:off x="604266" y="41211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速度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6"/>
                <p:cNvSpPr txBox="1"/>
                <p:nvPr/>
              </p:nvSpPr>
              <p:spPr>
                <a:xfrm>
                  <a:off x="1671066" y="4121150"/>
                  <a:ext cx="386068" cy="1615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05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05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05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sub>
                      </m:sSub>
                    </m:oMath>
                  </a14:m>
                  <a:r>
                    <a:rPr lang="en-US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(Hz)</a:t>
                  </a:r>
                </a:p>
              </p:txBody>
            </p:sp>
          </mc:Choice>
          <mc:Fallback xmlns="">
            <p:sp>
              <p:nvSpPr>
                <p:cNvPr id="26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1066" y="4121150"/>
                  <a:ext cx="386068" cy="161583"/>
                </a:xfrm>
                <a:prstGeom prst="rect">
                  <a:avLst/>
                </a:prstGeom>
                <a:blipFill>
                  <a:blip r:embed="rId8"/>
                  <a:stretch>
                    <a:fillRect l="-17460" t="-25926" r="-20635" b="-481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7"/>
                <p:cNvSpPr txBox="1"/>
                <p:nvPr/>
              </p:nvSpPr>
              <p:spPr>
                <a:xfrm>
                  <a:off x="2756916" y="4121150"/>
                  <a:ext cx="712824" cy="1615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r>
                        <a:rPr lang="el-GR" altLang="zh-CN" sz="1050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lang="zh-CN" altLang="el-GR" sz="105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𝜋</m:t>
                      </m:r>
                      <m:sSub>
                        <m:sSubPr>
                          <m:ctrlPr>
                            <a:rPr lang="zh-CN" altLang="el-GR" sz="105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l-GR" sz="105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zh-CN" altLang="el-GR" sz="105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sub>
                      </m:sSub>
                      <m:r>
                        <a:rPr lang="zh-CN" altLang="el-GR" sz="105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𝛥</m:t>
                      </m:r>
                      <m:r>
                        <a:rPr lang="zh-CN" altLang="el-GR" sz="1050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</m:oMath>
                  </a14:m>
                  <a:r>
                    <a:rPr lang="el-GR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(rad)</a:t>
                  </a:r>
                </a:p>
              </p:txBody>
            </p:sp>
          </mc:Choice>
          <mc:Fallback xmlns="">
            <p:sp>
              <p:nvSpPr>
                <p:cNvPr id="27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6916" y="4121150"/>
                  <a:ext cx="712824" cy="161583"/>
                </a:xfrm>
                <a:prstGeom prst="rect">
                  <a:avLst/>
                </a:prstGeom>
                <a:blipFill>
                  <a:blip r:embed="rId9"/>
                  <a:stretch>
                    <a:fillRect l="-6838" t="-25926" r="-9402" b="-481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8"/>
            <p:cNvSpPr txBox="1"/>
            <p:nvPr/>
          </p:nvSpPr>
          <p:spPr>
            <a:xfrm>
              <a:off x="4033266" y="41211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占时隙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3866" y="4121150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lag-1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09600" y="43434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2742" y="4502150"/>
              <a:ext cx="704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30 km/h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69542" y="450215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55.6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55392" y="450215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0.35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31742" y="450215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5.6%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22342" y="450215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0.94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09600" y="48196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2742" y="4845050"/>
              <a:ext cx="804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120 km/h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69542" y="4845050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222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55392" y="484505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1.40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1742" y="4845050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22%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22342" y="484505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0.32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09600" y="51625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2742" y="5187950"/>
              <a:ext cx="804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350 km/h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69542" y="5187950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649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755392" y="518795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4.08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31742" y="5187950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65%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22342" y="518795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0.15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4266" y="5537200"/>
              <a:ext cx="395782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649 Hz：占 10 MHz 带宽 0.0065%，占 1 kHz 时隙 65%——尺子不同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lag-1 实测与 J0² 一致；RT 给确定性多径，TDL 给统计集合</a:t>
              </a:r>
            </a:p>
          </p:txBody>
        </p:sp>
      </p:grpSp>
      <p:grpSp>
        <p:nvGrpSpPr>
          <p:cNvPr id="59" name="rotation-sketch"/>
          <p:cNvGrpSpPr/>
          <p:nvPr/>
        </p:nvGrpSpPr>
        <p:grpSpPr>
          <a:xfrm>
            <a:off x="6248400" y="3390900"/>
            <a:ext cx="5334000" cy="2514600"/>
            <a:chOff x="6248400" y="3390900"/>
            <a:chExt cx="5334000" cy="2514600"/>
          </a:xfrm>
        </p:grpSpPr>
        <p:sp>
          <p:nvSpPr>
            <p:cNvPr id="50" name="Rectangle 50"/>
            <p:cNvSpPr/>
            <p:nvPr/>
          </p:nvSpPr>
          <p:spPr>
            <a:xfrm>
              <a:off x="6248400" y="3390900"/>
              <a:ext cx="5334000" cy="2514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70904" y="3486150"/>
              <a:ext cx="1881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相位旋转：1 ms 内转多少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2"/>
                <p:cNvSpPr txBox="1"/>
                <p:nvPr/>
              </p:nvSpPr>
              <p:spPr>
                <a:xfrm>
                  <a:off x="6471666" y="3797300"/>
                  <a:ext cx="2558136" cy="1615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30 km/h ·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05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05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05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sub>
                      </m:sSub>
                    </m:oMath>
                  </a14:m>
                  <a:r>
                    <a:rPr lang="zh-CN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= 55.6 Hz · 1 ms 只转 0.35 rad</a:t>
                  </a:r>
                </a:p>
              </p:txBody>
            </p:sp>
          </mc:Choice>
          <mc:Fallback xmlns="">
            <p:sp>
              <p:nvSpPr>
                <p:cNvPr id="52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1666" y="3797300"/>
                  <a:ext cx="2558136" cy="161583"/>
                </a:xfrm>
                <a:prstGeom prst="rect">
                  <a:avLst/>
                </a:prstGeom>
                <a:blipFill>
                  <a:blip r:embed="rId10"/>
                  <a:stretch>
                    <a:fillRect l="-3341" t="-26923" r="-1909" b="-5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Line 53"/>
            <p:cNvSpPr/>
            <p:nvPr/>
          </p:nvSpPr>
          <p:spPr>
            <a:xfrm>
              <a:off x="6572250" y="42672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4" name="Polyline 54"/>
            <p:cNvSpPr/>
            <p:nvPr/>
          </p:nvSpPr>
          <p:spPr>
            <a:xfrm>
              <a:off x="6572250" y="4114800"/>
              <a:ext cx="4667250" cy="304800"/>
            </a:xfrm>
            <a:custGeom>
              <a:avLst/>
              <a:gdLst/>
              <a:ahLst/>
              <a:cxnLst/>
              <a:rect l="l" t="t" r="r" b="b"/>
              <a:pathLst>
                <a:path w="4667250" h="304800">
                  <a:moveTo>
                    <a:pt x="0" y="0"/>
                  </a:moveTo>
                  <a:lnTo>
                    <a:pt x="19050" y="0"/>
                  </a:lnTo>
                  <a:lnTo>
                    <a:pt x="38100" y="1905"/>
                  </a:lnTo>
                  <a:lnTo>
                    <a:pt x="57150" y="3810"/>
                  </a:lnTo>
                  <a:lnTo>
                    <a:pt x="76200" y="6667"/>
                  </a:lnTo>
                  <a:lnTo>
                    <a:pt x="95250" y="10478"/>
                  </a:lnTo>
                  <a:lnTo>
                    <a:pt x="114300" y="14288"/>
                  </a:lnTo>
                  <a:lnTo>
                    <a:pt x="133350" y="20003"/>
                  </a:lnTo>
                  <a:lnTo>
                    <a:pt x="152400" y="25717"/>
                  </a:lnTo>
                  <a:lnTo>
                    <a:pt x="171450" y="32385"/>
                  </a:lnTo>
                  <a:lnTo>
                    <a:pt x="190500" y="40005"/>
                  </a:lnTo>
                  <a:lnTo>
                    <a:pt x="209550" y="47625"/>
                  </a:lnTo>
                  <a:lnTo>
                    <a:pt x="228600" y="56197"/>
                  </a:lnTo>
                  <a:lnTo>
                    <a:pt x="247650" y="64770"/>
                  </a:lnTo>
                  <a:lnTo>
                    <a:pt x="266700" y="74295"/>
                  </a:lnTo>
                  <a:lnTo>
                    <a:pt x="285750" y="84772"/>
                  </a:lnTo>
                  <a:lnTo>
                    <a:pt x="304800" y="94297"/>
                  </a:lnTo>
                  <a:lnTo>
                    <a:pt x="323850" y="105728"/>
                  </a:lnTo>
                  <a:lnTo>
                    <a:pt x="342900" y="116205"/>
                  </a:lnTo>
                  <a:lnTo>
                    <a:pt x="361950" y="127635"/>
                  </a:lnTo>
                  <a:lnTo>
                    <a:pt x="381000" y="138112"/>
                  </a:lnTo>
                  <a:lnTo>
                    <a:pt x="400050" y="149542"/>
                  </a:lnTo>
                  <a:lnTo>
                    <a:pt x="419100" y="160972"/>
                  </a:lnTo>
                  <a:lnTo>
                    <a:pt x="438150" y="172403"/>
                  </a:lnTo>
                  <a:lnTo>
                    <a:pt x="457200" y="182880"/>
                  </a:lnTo>
                  <a:lnTo>
                    <a:pt x="476250" y="194310"/>
                  </a:lnTo>
                  <a:lnTo>
                    <a:pt x="495300" y="204788"/>
                  </a:lnTo>
                  <a:lnTo>
                    <a:pt x="514350" y="215265"/>
                  </a:lnTo>
                  <a:lnTo>
                    <a:pt x="533400" y="225742"/>
                  </a:lnTo>
                  <a:lnTo>
                    <a:pt x="552450" y="235267"/>
                  </a:lnTo>
                  <a:lnTo>
                    <a:pt x="571500" y="243840"/>
                  </a:lnTo>
                  <a:lnTo>
                    <a:pt x="590550" y="253365"/>
                  </a:lnTo>
                  <a:lnTo>
                    <a:pt x="609600" y="260985"/>
                  </a:lnTo>
                  <a:lnTo>
                    <a:pt x="628650" y="268605"/>
                  </a:lnTo>
                  <a:lnTo>
                    <a:pt x="647700" y="275272"/>
                  </a:lnTo>
                  <a:lnTo>
                    <a:pt x="666750" y="281940"/>
                  </a:lnTo>
                  <a:lnTo>
                    <a:pt x="685800" y="287655"/>
                  </a:lnTo>
                  <a:lnTo>
                    <a:pt x="704850" y="292417"/>
                  </a:lnTo>
                  <a:lnTo>
                    <a:pt x="723900" y="296228"/>
                  </a:lnTo>
                  <a:lnTo>
                    <a:pt x="742950" y="300038"/>
                  </a:lnTo>
                  <a:lnTo>
                    <a:pt x="762000" y="301942"/>
                  </a:lnTo>
                  <a:lnTo>
                    <a:pt x="781050" y="303847"/>
                  </a:lnTo>
                  <a:lnTo>
                    <a:pt x="800100" y="304800"/>
                  </a:lnTo>
                  <a:lnTo>
                    <a:pt x="819150" y="304800"/>
                  </a:lnTo>
                  <a:lnTo>
                    <a:pt x="838200" y="303847"/>
                  </a:lnTo>
                  <a:lnTo>
                    <a:pt x="857250" y="301942"/>
                  </a:lnTo>
                  <a:lnTo>
                    <a:pt x="876300" y="300038"/>
                  </a:lnTo>
                  <a:lnTo>
                    <a:pt x="895350" y="296228"/>
                  </a:lnTo>
                  <a:lnTo>
                    <a:pt x="914400" y="292417"/>
                  </a:lnTo>
                  <a:lnTo>
                    <a:pt x="933450" y="287655"/>
                  </a:lnTo>
                  <a:lnTo>
                    <a:pt x="952500" y="281940"/>
                  </a:lnTo>
                  <a:lnTo>
                    <a:pt x="971550" y="275272"/>
                  </a:lnTo>
                  <a:lnTo>
                    <a:pt x="990600" y="268605"/>
                  </a:lnTo>
                  <a:lnTo>
                    <a:pt x="1009650" y="260985"/>
                  </a:lnTo>
                  <a:lnTo>
                    <a:pt x="1028700" y="253365"/>
                  </a:lnTo>
                  <a:lnTo>
                    <a:pt x="1047750" y="243840"/>
                  </a:lnTo>
                  <a:lnTo>
                    <a:pt x="1066800" y="235267"/>
                  </a:lnTo>
                  <a:lnTo>
                    <a:pt x="1085850" y="225742"/>
                  </a:lnTo>
                  <a:lnTo>
                    <a:pt x="1104900" y="215265"/>
                  </a:lnTo>
                  <a:lnTo>
                    <a:pt x="1123950" y="204788"/>
                  </a:lnTo>
                  <a:lnTo>
                    <a:pt x="1143000" y="194310"/>
                  </a:lnTo>
                  <a:lnTo>
                    <a:pt x="1162050" y="182880"/>
                  </a:lnTo>
                  <a:lnTo>
                    <a:pt x="1181100" y="172403"/>
                  </a:lnTo>
                  <a:lnTo>
                    <a:pt x="1200150" y="160972"/>
                  </a:lnTo>
                  <a:lnTo>
                    <a:pt x="1219200" y="149542"/>
                  </a:lnTo>
                  <a:lnTo>
                    <a:pt x="1238250" y="138112"/>
                  </a:lnTo>
                  <a:lnTo>
                    <a:pt x="1257300" y="127635"/>
                  </a:lnTo>
                  <a:lnTo>
                    <a:pt x="1276350" y="116205"/>
                  </a:lnTo>
                  <a:lnTo>
                    <a:pt x="1295400" y="105728"/>
                  </a:lnTo>
                  <a:lnTo>
                    <a:pt x="1314450" y="94297"/>
                  </a:lnTo>
                  <a:lnTo>
                    <a:pt x="1333500" y="84772"/>
                  </a:lnTo>
                  <a:lnTo>
                    <a:pt x="1352550" y="74295"/>
                  </a:lnTo>
                  <a:lnTo>
                    <a:pt x="1371600" y="64770"/>
                  </a:lnTo>
                  <a:lnTo>
                    <a:pt x="1390650" y="56197"/>
                  </a:lnTo>
                  <a:lnTo>
                    <a:pt x="1409700" y="47625"/>
                  </a:lnTo>
                  <a:lnTo>
                    <a:pt x="1428750" y="40005"/>
                  </a:lnTo>
                  <a:lnTo>
                    <a:pt x="1447800" y="32385"/>
                  </a:lnTo>
                  <a:lnTo>
                    <a:pt x="1466850" y="25717"/>
                  </a:lnTo>
                  <a:lnTo>
                    <a:pt x="1485900" y="20003"/>
                  </a:lnTo>
                  <a:lnTo>
                    <a:pt x="1504950" y="14288"/>
                  </a:lnTo>
                  <a:lnTo>
                    <a:pt x="1524000" y="10478"/>
                  </a:lnTo>
                  <a:lnTo>
                    <a:pt x="1543050" y="6667"/>
                  </a:lnTo>
                  <a:lnTo>
                    <a:pt x="1562100" y="3810"/>
                  </a:lnTo>
                  <a:lnTo>
                    <a:pt x="1581150" y="1905"/>
                  </a:lnTo>
                  <a:lnTo>
                    <a:pt x="1600200" y="0"/>
                  </a:lnTo>
                  <a:lnTo>
                    <a:pt x="1619250" y="0"/>
                  </a:lnTo>
                  <a:lnTo>
                    <a:pt x="1638300" y="0"/>
                  </a:lnTo>
                  <a:lnTo>
                    <a:pt x="1657350" y="1905"/>
                  </a:lnTo>
                  <a:lnTo>
                    <a:pt x="1676400" y="3810"/>
                  </a:lnTo>
                  <a:lnTo>
                    <a:pt x="1695450" y="6667"/>
                  </a:lnTo>
                  <a:lnTo>
                    <a:pt x="1714500" y="10478"/>
                  </a:lnTo>
                  <a:lnTo>
                    <a:pt x="1733550" y="14288"/>
                  </a:lnTo>
                  <a:lnTo>
                    <a:pt x="1752600" y="20003"/>
                  </a:lnTo>
                  <a:lnTo>
                    <a:pt x="1771650" y="25717"/>
                  </a:lnTo>
                  <a:lnTo>
                    <a:pt x="1790700" y="32385"/>
                  </a:lnTo>
                  <a:lnTo>
                    <a:pt x="1809750" y="40005"/>
                  </a:lnTo>
                  <a:lnTo>
                    <a:pt x="1828800" y="47625"/>
                  </a:lnTo>
                  <a:lnTo>
                    <a:pt x="1847850" y="56197"/>
                  </a:lnTo>
                  <a:lnTo>
                    <a:pt x="1866900" y="64770"/>
                  </a:lnTo>
                  <a:lnTo>
                    <a:pt x="1885950" y="74295"/>
                  </a:lnTo>
                  <a:lnTo>
                    <a:pt x="1905000" y="84772"/>
                  </a:lnTo>
                  <a:lnTo>
                    <a:pt x="1924050" y="94297"/>
                  </a:lnTo>
                  <a:lnTo>
                    <a:pt x="1943100" y="105728"/>
                  </a:lnTo>
                  <a:lnTo>
                    <a:pt x="1962150" y="116205"/>
                  </a:lnTo>
                  <a:lnTo>
                    <a:pt x="1981200" y="127635"/>
                  </a:lnTo>
                  <a:lnTo>
                    <a:pt x="2000250" y="138112"/>
                  </a:lnTo>
                  <a:lnTo>
                    <a:pt x="2019300" y="149542"/>
                  </a:lnTo>
                  <a:lnTo>
                    <a:pt x="2038350" y="160972"/>
                  </a:lnTo>
                  <a:lnTo>
                    <a:pt x="2057400" y="172403"/>
                  </a:lnTo>
                  <a:lnTo>
                    <a:pt x="2076450" y="182880"/>
                  </a:lnTo>
                  <a:lnTo>
                    <a:pt x="2095500" y="194310"/>
                  </a:lnTo>
                  <a:lnTo>
                    <a:pt x="2114550" y="204788"/>
                  </a:lnTo>
                  <a:lnTo>
                    <a:pt x="2133600" y="215265"/>
                  </a:lnTo>
                  <a:lnTo>
                    <a:pt x="2152650" y="225742"/>
                  </a:lnTo>
                  <a:lnTo>
                    <a:pt x="2171700" y="235267"/>
                  </a:lnTo>
                  <a:lnTo>
                    <a:pt x="2190750" y="243840"/>
                  </a:lnTo>
                  <a:lnTo>
                    <a:pt x="2209800" y="253365"/>
                  </a:lnTo>
                  <a:lnTo>
                    <a:pt x="2228850" y="260985"/>
                  </a:lnTo>
                  <a:lnTo>
                    <a:pt x="2247900" y="268605"/>
                  </a:lnTo>
                  <a:lnTo>
                    <a:pt x="2266950" y="275272"/>
                  </a:lnTo>
                  <a:lnTo>
                    <a:pt x="2286000" y="281940"/>
                  </a:lnTo>
                  <a:lnTo>
                    <a:pt x="2305050" y="287655"/>
                  </a:lnTo>
                  <a:lnTo>
                    <a:pt x="2324100" y="292417"/>
                  </a:lnTo>
                  <a:lnTo>
                    <a:pt x="2343150" y="296228"/>
                  </a:lnTo>
                  <a:lnTo>
                    <a:pt x="2362200" y="300038"/>
                  </a:lnTo>
                  <a:lnTo>
                    <a:pt x="2381250" y="301942"/>
                  </a:lnTo>
                  <a:lnTo>
                    <a:pt x="2400300" y="303847"/>
                  </a:lnTo>
                  <a:lnTo>
                    <a:pt x="2419350" y="304800"/>
                  </a:lnTo>
                  <a:lnTo>
                    <a:pt x="2438400" y="304800"/>
                  </a:lnTo>
                  <a:lnTo>
                    <a:pt x="2457450" y="303847"/>
                  </a:lnTo>
                  <a:lnTo>
                    <a:pt x="2476500" y="301942"/>
                  </a:lnTo>
                  <a:lnTo>
                    <a:pt x="2495550" y="300038"/>
                  </a:lnTo>
                  <a:lnTo>
                    <a:pt x="2514600" y="296228"/>
                  </a:lnTo>
                  <a:lnTo>
                    <a:pt x="2533650" y="292417"/>
                  </a:lnTo>
                  <a:lnTo>
                    <a:pt x="2552700" y="287655"/>
                  </a:lnTo>
                  <a:lnTo>
                    <a:pt x="2571750" y="281940"/>
                  </a:lnTo>
                  <a:lnTo>
                    <a:pt x="2590800" y="275272"/>
                  </a:lnTo>
                  <a:lnTo>
                    <a:pt x="2609850" y="268605"/>
                  </a:lnTo>
                  <a:lnTo>
                    <a:pt x="2628900" y="260985"/>
                  </a:lnTo>
                  <a:lnTo>
                    <a:pt x="2647950" y="253365"/>
                  </a:lnTo>
                  <a:lnTo>
                    <a:pt x="2667000" y="243840"/>
                  </a:lnTo>
                  <a:lnTo>
                    <a:pt x="2686050" y="235267"/>
                  </a:lnTo>
                  <a:lnTo>
                    <a:pt x="2705100" y="225742"/>
                  </a:lnTo>
                  <a:lnTo>
                    <a:pt x="2724150" y="215265"/>
                  </a:lnTo>
                  <a:lnTo>
                    <a:pt x="2743200" y="204788"/>
                  </a:lnTo>
                  <a:lnTo>
                    <a:pt x="2762250" y="194310"/>
                  </a:lnTo>
                  <a:lnTo>
                    <a:pt x="2781300" y="182880"/>
                  </a:lnTo>
                  <a:lnTo>
                    <a:pt x="2800350" y="172403"/>
                  </a:lnTo>
                  <a:lnTo>
                    <a:pt x="2819400" y="160972"/>
                  </a:lnTo>
                  <a:lnTo>
                    <a:pt x="2838450" y="149542"/>
                  </a:lnTo>
                  <a:lnTo>
                    <a:pt x="2857500" y="138112"/>
                  </a:lnTo>
                  <a:lnTo>
                    <a:pt x="2876550" y="127635"/>
                  </a:lnTo>
                  <a:lnTo>
                    <a:pt x="2895600" y="116205"/>
                  </a:lnTo>
                  <a:lnTo>
                    <a:pt x="2914650" y="105728"/>
                  </a:lnTo>
                  <a:lnTo>
                    <a:pt x="2933700" y="94297"/>
                  </a:lnTo>
                  <a:lnTo>
                    <a:pt x="2952750" y="84772"/>
                  </a:lnTo>
                  <a:lnTo>
                    <a:pt x="2971800" y="74295"/>
                  </a:lnTo>
                  <a:lnTo>
                    <a:pt x="2990850" y="64770"/>
                  </a:lnTo>
                  <a:lnTo>
                    <a:pt x="3009900" y="56197"/>
                  </a:lnTo>
                  <a:lnTo>
                    <a:pt x="3028950" y="47625"/>
                  </a:lnTo>
                  <a:lnTo>
                    <a:pt x="3048000" y="40005"/>
                  </a:lnTo>
                  <a:lnTo>
                    <a:pt x="3067050" y="32385"/>
                  </a:lnTo>
                  <a:lnTo>
                    <a:pt x="3086100" y="25717"/>
                  </a:lnTo>
                  <a:lnTo>
                    <a:pt x="3105150" y="20003"/>
                  </a:lnTo>
                  <a:lnTo>
                    <a:pt x="3124200" y="14288"/>
                  </a:lnTo>
                  <a:lnTo>
                    <a:pt x="3143250" y="10478"/>
                  </a:lnTo>
                  <a:lnTo>
                    <a:pt x="3162300" y="6667"/>
                  </a:lnTo>
                  <a:lnTo>
                    <a:pt x="3181350" y="3810"/>
                  </a:lnTo>
                  <a:lnTo>
                    <a:pt x="3200400" y="1905"/>
                  </a:lnTo>
                  <a:lnTo>
                    <a:pt x="3219450" y="0"/>
                  </a:lnTo>
                  <a:lnTo>
                    <a:pt x="3238500" y="0"/>
                  </a:lnTo>
                  <a:lnTo>
                    <a:pt x="3257550" y="0"/>
                  </a:lnTo>
                  <a:lnTo>
                    <a:pt x="3276600" y="1905"/>
                  </a:lnTo>
                  <a:lnTo>
                    <a:pt x="3295650" y="3810"/>
                  </a:lnTo>
                  <a:lnTo>
                    <a:pt x="3314700" y="6667"/>
                  </a:lnTo>
                  <a:lnTo>
                    <a:pt x="3333750" y="10478"/>
                  </a:lnTo>
                  <a:lnTo>
                    <a:pt x="3352800" y="14288"/>
                  </a:lnTo>
                  <a:lnTo>
                    <a:pt x="3371850" y="20003"/>
                  </a:lnTo>
                  <a:lnTo>
                    <a:pt x="3390900" y="25717"/>
                  </a:lnTo>
                  <a:lnTo>
                    <a:pt x="3409950" y="32385"/>
                  </a:lnTo>
                  <a:lnTo>
                    <a:pt x="3429000" y="40005"/>
                  </a:lnTo>
                  <a:lnTo>
                    <a:pt x="3448050" y="47625"/>
                  </a:lnTo>
                  <a:lnTo>
                    <a:pt x="3467100" y="56197"/>
                  </a:lnTo>
                  <a:lnTo>
                    <a:pt x="3486150" y="64770"/>
                  </a:lnTo>
                  <a:lnTo>
                    <a:pt x="3505200" y="74295"/>
                  </a:lnTo>
                  <a:lnTo>
                    <a:pt x="3524250" y="84772"/>
                  </a:lnTo>
                  <a:lnTo>
                    <a:pt x="3543300" y="94297"/>
                  </a:lnTo>
                  <a:lnTo>
                    <a:pt x="3562350" y="105728"/>
                  </a:lnTo>
                  <a:lnTo>
                    <a:pt x="3581400" y="116205"/>
                  </a:lnTo>
                  <a:lnTo>
                    <a:pt x="3600450" y="127635"/>
                  </a:lnTo>
                  <a:lnTo>
                    <a:pt x="3619500" y="138112"/>
                  </a:lnTo>
                  <a:lnTo>
                    <a:pt x="3638550" y="149542"/>
                  </a:lnTo>
                  <a:lnTo>
                    <a:pt x="3657600" y="160972"/>
                  </a:lnTo>
                  <a:lnTo>
                    <a:pt x="3676650" y="172403"/>
                  </a:lnTo>
                  <a:lnTo>
                    <a:pt x="3695700" y="182880"/>
                  </a:lnTo>
                  <a:lnTo>
                    <a:pt x="3714750" y="194310"/>
                  </a:lnTo>
                  <a:lnTo>
                    <a:pt x="3733800" y="204788"/>
                  </a:lnTo>
                  <a:lnTo>
                    <a:pt x="3752850" y="215265"/>
                  </a:lnTo>
                  <a:lnTo>
                    <a:pt x="3771900" y="225742"/>
                  </a:lnTo>
                  <a:lnTo>
                    <a:pt x="3790950" y="235267"/>
                  </a:lnTo>
                  <a:lnTo>
                    <a:pt x="3810000" y="243840"/>
                  </a:lnTo>
                  <a:lnTo>
                    <a:pt x="3829050" y="253365"/>
                  </a:lnTo>
                  <a:lnTo>
                    <a:pt x="3848100" y="260985"/>
                  </a:lnTo>
                  <a:lnTo>
                    <a:pt x="3867150" y="268605"/>
                  </a:lnTo>
                  <a:lnTo>
                    <a:pt x="3886200" y="275272"/>
                  </a:lnTo>
                  <a:lnTo>
                    <a:pt x="3905250" y="281940"/>
                  </a:lnTo>
                  <a:lnTo>
                    <a:pt x="3924300" y="287655"/>
                  </a:lnTo>
                  <a:lnTo>
                    <a:pt x="3943350" y="292417"/>
                  </a:lnTo>
                  <a:lnTo>
                    <a:pt x="3962400" y="296228"/>
                  </a:lnTo>
                  <a:lnTo>
                    <a:pt x="3981450" y="300038"/>
                  </a:lnTo>
                  <a:lnTo>
                    <a:pt x="4000500" y="301942"/>
                  </a:lnTo>
                  <a:lnTo>
                    <a:pt x="4019550" y="303847"/>
                  </a:lnTo>
                  <a:lnTo>
                    <a:pt x="4038600" y="304800"/>
                  </a:lnTo>
                  <a:lnTo>
                    <a:pt x="4057650" y="304800"/>
                  </a:lnTo>
                  <a:lnTo>
                    <a:pt x="4076700" y="303847"/>
                  </a:lnTo>
                  <a:lnTo>
                    <a:pt x="4095750" y="301942"/>
                  </a:lnTo>
                  <a:lnTo>
                    <a:pt x="4114800" y="300038"/>
                  </a:lnTo>
                  <a:lnTo>
                    <a:pt x="4133850" y="296228"/>
                  </a:lnTo>
                  <a:lnTo>
                    <a:pt x="4152900" y="292417"/>
                  </a:lnTo>
                  <a:lnTo>
                    <a:pt x="4171950" y="287655"/>
                  </a:lnTo>
                  <a:lnTo>
                    <a:pt x="4191000" y="281940"/>
                  </a:lnTo>
                  <a:lnTo>
                    <a:pt x="4210050" y="275272"/>
                  </a:lnTo>
                  <a:lnTo>
                    <a:pt x="4229100" y="268605"/>
                  </a:lnTo>
                  <a:lnTo>
                    <a:pt x="4248150" y="260985"/>
                  </a:lnTo>
                  <a:lnTo>
                    <a:pt x="4267200" y="253365"/>
                  </a:lnTo>
                  <a:lnTo>
                    <a:pt x="4286250" y="243840"/>
                  </a:lnTo>
                  <a:lnTo>
                    <a:pt x="4305300" y="235267"/>
                  </a:lnTo>
                  <a:lnTo>
                    <a:pt x="4324350" y="225742"/>
                  </a:lnTo>
                  <a:lnTo>
                    <a:pt x="4343400" y="215265"/>
                  </a:lnTo>
                  <a:lnTo>
                    <a:pt x="4362450" y="204788"/>
                  </a:lnTo>
                  <a:lnTo>
                    <a:pt x="4381500" y="194310"/>
                  </a:lnTo>
                  <a:lnTo>
                    <a:pt x="4400550" y="182880"/>
                  </a:lnTo>
                  <a:lnTo>
                    <a:pt x="4419600" y="172403"/>
                  </a:lnTo>
                  <a:lnTo>
                    <a:pt x="4438650" y="160972"/>
                  </a:lnTo>
                  <a:lnTo>
                    <a:pt x="4457700" y="149542"/>
                  </a:lnTo>
                  <a:lnTo>
                    <a:pt x="4476750" y="138112"/>
                  </a:lnTo>
                  <a:lnTo>
                    <a:pt x="4495800" y="127635"/>
                  </a:lnTo>
                  <a:lnTo>
                    <a:pt x="4514850" y="116205"/>
                  </a:lnTo>
                  <a:lnTo>
                    <a:pt x="4533900" y="105728"/>
                  </a:lnTo>
                  <a:lnTo>
                    <a:pt x="4552950" y="94297"/>
                  </a:lnTo>
                  <a:lnTo>
                    <a:pt x="4572000" y="84772"/>
                  </a:lnTo>
                  <a:lnTo>
                    <a:pt x="4591050" y="74295"/>
                  </a:lnTo>
                  <a:lnTo>
                    <a:pt x="4610100" y="64770"/>
                  </a:lnTo>
                  <a:lnTo>
                    <a:pt x="4629150" y="56197"/>
                  </a:lnTo>
                  <a:lnTo>
                    <a:pt x="4648200" y="47625"/>
                  </a:lnTo>
                  <a:lnTo>
                    <a:pt x="4667250" y="40005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5"/>
                <p:cNvSpPr txBox="1"/>
                <p:nvPr/>
              </p:nvSpPr>
              <p:spPr>
                <a:xfrm>
                  <a:off x="6471666" y="4654550"/>
                  <a:ext cx="2498826" cy="1615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350 km/h ·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05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05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05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sub>
                      </m:sSub>
                    </m:oMath>
                  </a14:m>
                  <a:r>
                    <a:rPr lang="zh-CN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 = 649 Hz · 1 ms 转 4.08 rad</a:t>
                  </a:r>
                </a:p>
              </p:txBody>
            </p:sp>
          </mc:Choice>
          <mc:Fallback xmlns="">
            <p:sp>
              <p:nvSpPr>
                <p:cNvPr id="55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1666" y="4654550"/>
                  <a:ext cx="2498826" cy="161583"/>
                </a:xfrm>
                <a:prstGeom prst="rect">
                  <a:avLst/>
                </a:prstGeom>
                <a:blipFill>
                  <a:blip r:embed="rId11"/>
                  <a:stretch>
                    <a:fillRect l="-3415" t="-26923" r="-1951" b="-5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Line 56"/>
            <p:cNvSpPr/>
            <p:nvPr/>
          </p:nvSpPr>
          <p:spPr>
            <a:xfrm>
              <a:off x="6572250" y="52387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7" name="Polyline 57"/>
            <p:cNvSpPr/>
            <p:nvPr/>
          </p:nvSpPr>
          <p:spPr>
            <a:xfrm>
              <a:off x="6572250" y="5086350"/>
              <a:ext cx="4657725" cy="304800"/>
            </a:xfrm>
            <a:custGeom>
              <a:avLst/>
              <a:gdLst/>
              <a:ahLst/>
              <a:cxnLst/>
              <a:rect l="l" t="t" r="r" b="b"/>
              <a:pathLst>
                <a:path w="4657725" h="304800">
                  <a:moveTo>
                    <a:pt x="0" y="0"/>
                  </a:moveTo>
                  <a:lnTo>
                    <a:pt x="14288" y="3810"/>
                  </a:lnTo>
                  <a:lnTo>
                    <a:pt x="28575" y="16193"/>
                  </a:lnTo>
                  <a:lnTo>
                    <a:pt x="42862" y="36195"/>
                  </a:lnTo>
                  <a:lnTo>
                    <a:pt x="57150" y="62865"/>
                  </a:lnTo>
                  <a:lnTo>
                    <a:pt x="71438" y="94297"/>
                  </a:lnTo>
                  <a:lnTo>
                    <a:pt x="85725" y="128588"/>
                  </a:lnTo>
                  <a:lnTo>
                    <a:pt x="100012" y="164782"/>
                  </a:lnTo>
                  <a:lnTo>
                    <a:pt x="114300" y="199072"/>
                  </a:lnTo>
                  <a:lnTo>
                    <a:pt x="128588" y="232410"/>
                  </a:lnTo>
                  <a:lnTo>
                    <a:pt x="142875" y="260032"/>
                  </a:lnTo>
                  <a:lnTo>
                    <a:pt x="157162" y="281940"/>
                  </a:lnTo>
                  <a:lnTo>
                    <a:pt x="171450" y="297180"/>
                  </a:lnTo>
                  <a:lnTo>
                    <a:pt x="185738" y="304800"/>
                  </a:lnTo>
                  <a:lnTo>
                    <a:pt x="200025" y="302895"/>
                  </a:lnTo>
                  <a:lnTo>
                    <a:pt x="214312" y="293370"/>
                  </a:lnTo>
                  <a:lnTo>
                    <a:pt x="228600" y="275272"/>
                  </a:lnTo>
                  <a:lnTo>
                    <a:pt x="242888" y="251460"/>
                  </a:lnTo>
                  <a:lnTo>
                    <a:pt x="257175" y="221932"/>
                  </a:lnTo>
                  <a:lnTo>
                    <a:pt x="271462" y="187643"/>
                  </a:lnTo>
                  <a:lnTo>
                    <a:pt x="285750" y="152400"/>
                  </a:lnTo>
                  <a:lnTo>
                    <a:pt x="300038" y="117157"/>
                  </a:lnTo>
                  <a:lnTo>
                    <a:pt x="314325" y="82868"/>
                  </a:lnTo>
                  <a:lnTo>
                    <a:pt x="328612" y="53340"/>
                  </a:lnTo>
                  <a:lnTo>
                    <a:pt x="342900" y="29528"/>
                  </a:lnTo>
                  <a:lnTo>
                    <a:pt x="357188" y="11430"/>
                  </a:lnTo>
                  <a:lnTo>
                    <a:pt x="371475" y="1905"/>
                  </a:lnTo>
                  <a:lnTo>
                    <a:pt x="385762" y="0"/>
                  </a:lnTo>
                  <a:lnTo>
                    <a:pt x="400050" y="7620"/>
                  </a:lnTo>
                  <a:lnTo>
                    <a:pt x="414338" y="22860"/>
                  </a:lnTo>
                  <a:lnTo>
                    <a:pt x="428625" y="44768"/>
                  </a:lnTo>
                  <a:lnTo>
                    <a:pt x="442912" y="72390"/>
                  </a:lnTo>
                  <a:lnTo>
                    <a:pt x="457200" y="105728"/>
                  </a:lnTo>
                  <a:lnTo>
                    <a:pt x="471488" y="140018"/>
                  </a:lnTo>
                  <a:lnTo>
                    <a:pt x="485775" y="176212"/>
                  </a:lnTo>
                  <a:lnTo>
                    <a:pt x="500062" y="210503"/>
                  </a:lnTo>
                  <a:lnTo>
                    <a:pt x="514350" y="241935"/>
                  </a:lnTo>
                  <a:lnTo>
                    <a:pt x="528638" y="268605"/>
                  </a:lnTo>
                  <a:lnTo>
                    <a:pt x="542925" y="288607"/>
                  </a:lnTo>
                  <a:lnTo>
                    <a:pt x="557212" y="300990"/>
                  </a:lnTo>
                  <a:lnTo>
                    <a:pt x="571500" y="304800"/>
                  </a:lnTo>
                  <a:lnTo>
                    <a:pt x="585788" y="300990"/>
                  </a:lnTo>
                  <a:lnTo>
                    <a:pt x="600075" y="288607"/>
                  </a:lnTo>
                  <a:lnTo>
                    <a:pt x="614362" y="268605"/>
                  </a:lnTo>
                  <a:lnTo>
                    <a:pt x="628650" y="241935"/>
                  </a:lnTo>
                  <a:lnTo>
                    <a:pt x="642938" y="210503"/>
                  </a:lnTo>
                  <a:lnTo>
                    <a:pt x="657225" y="176212"/>
                  </a:lnTo>
                  <a:lnTo>
                    <a:pt x="671512" y="140018"/>
                  </a:lnTo>
                  <a:lnTo>
                    <a:pt x="685800" y="105728"/>
                  </a:lnTo>
                  <a:lnTo>
                    <a:pt x="700088" y="72390"/>
                  </a:lnTo>
                  <a:lnTo>
                    <a:pt x="714375" y="44768"/>
                  </a:lnTo>
                  <a:lnTo>
                    <a:pt x="728662" y="22860"/>
                  </a:lnTo>
                  <a:lnTo>
                    <a:pt x="742950" y="7620"/>
                  </a:lnTo>
                  <a:lnTo>
                    <a:pt x="757238" y="0"/>
                  </a:lnTo>
                  <a:lnTo>
                    <a:pt x="771525" y="1905"/>
                  </a:lnTo>
                  <a:lnTo>
                    <a:pt x="785812" y="11430"/>
                  </a:lnTo>
                  <a:lnTo>
                    <a:pt x="800100" y="29528"/>
                  </a:lnTo>
                  <a:lnTo>
                    <a:pt x="814388" y="53340"/>
                  </a:lnTo>
                  <a:lnTo>
                    <a:pt x="828675" y="82868"/>
                  </a:lnTo>
                  <a:lnTo>
                    <a:pt x="842962" y="117157"/>
                  </a:lnTo>
                  <a:lnTo>
                    <a:pt x="857250" y="152400"/>
                  </a:lnTo>
                  <a:lnTo>
                    <a:pt x="871538" y="187643"/>
                  </a:lnTo>
                  <a:lnTo>
                    <a:pt x="885825" y="221932"/>
                  </a:lnTo>
                  <a:lnTo>
                    <a:pt x="900112" y="251460"/>
                  </a:lnTo>
                  <a:lnTo>
                    <a:pt x="914400" y="275272"/>
                  </a:lnTo>
                  <a:lnTo>
                    <a:pt x="928688" y="293370"/>
                  </a:lnTo>
                  <a:lnTo>
                    <a:pt x="942975" y="302895"/>
                  </a:lnTo>
                  <a:lnTo>
                    <a:pt x="957262" y="304800"/>
                  </a:lnTo>
                  <a:lnTo>
                    <a:pt x="971550" y="297180"/>
                  </a:lnTo>
                  <a:lnTo>
                    <a:pt x="985838" y="281940"/>
                  </a:lnTo>
                  <a:lnTo>
                    <a:pt x="1000125" y="260032"/>
                  </a:lnTo>
                  <a:lnTo>
                    <a:pt x="1014412" y="232410"/>
                  </a:lnTo>
                  <a:lnTo>
                    <a:pt x="1028700" y="199072"/>
                  </a:lnTo>
                  <a:lnTo>
                    <a:pt x="1042988" y="164782"/>
                  </a:lnTo>
                  <a:lnTo>
                    <a:pt x="1057275" y="128588"/>
                  </a:lnTo>
                  <a:lnTo>
                    <a:pt x="1071562" y="94297"/>
                  </a:lnTo>
                  <a:lnTo>
                    <a:pt x="1085850" y="62865"/>
                  </a:lnTo>
                  <a:lnTo>
                    <a:pt x="1100138" y="36195"/>
                  </a:lnTo>
                  <a:lnTo>
                    <a:pt x="1114425" y="16193"/>
                  </a:lnTo>
                  <a:lnTo>
                    <a:pt x="1128712" y="3810"/>
                  </a:lnTo>
                  <a:lnTo>
                    <a:pt x="1143000" y="0"/>
                  </a:lnTo>
                  <a:lnTo>
                    <a:pt x="1157288" y="3810"/>
                  </a:lnTo>
                  <a:lnTo>
                    <a:pt x="1171575" y="16193"/>
                  </a:lnTo>
                  <a:lnTo>
                    <a:pt x="1185862" y="36195"/>
                  </a:lnTo>
                  <a:lnTo>
                    <a:pt x="1200150" y="62865"/>
                  </a:lnTo>
                  <a:lnTo>
                    <a:pt x="1214438" y="94297"/>
                  </a:lnTo>
                  <a:lnTo>
                    <a:pt x="1228725" y="128588"/>
                  </a:lnTo>
                  <a:lnTo>
                    <a:pt x="1243012" y="164782"/>
                  </a:lnTo>
                  <a:lnTo>
                    <a:pt x="1257300" y="199072"/>
                  </a:lnTo>
                  <a:lnTo>
                    <a:pt x="1271588" y="232410"/>
                  </a:lnTo>
                  <a:lnTo>
                    <a:pt x="1285875" y="260032"/>
                  </a:lnTo>
                  <a:lnTo>
                    <a:pt x="1300162" y="281940"/>
                  </a:lnTo>
                  <a:lnTo>
                    <a:pt x="1314450" y="297180"/>
                  </a:lnTo>
                  <a:lnTo>
                    <a:pt x="1328738" y="304800"/>
                  </a:lnTo>
                  <a:lnTo>
                    <a:pt x="1343025" y="302895"/>
                  </a:lnTo>
                  <a:lnTo>
                    <a:pt x="1357312" y="293370"/>
                  </a:lnTo>
                  <a:lnTo>
                    <a:pt x="1371600" y="275272"/>
                  </a:lnTo>
                  <a:lnTo>
                    <a:pt x="1385888" y="251460"/>
                  </a:lnTo>
                  <a:lnTo>
                    <a:pt x="1400175" y="221932"/>
                  </a:lnTo>
                  <a:lnTo>
                    <a:pt x="1414462" y="187643"/>
                  </a:lnTo>
                  <a:lnTo>
                    <a:pt x="1428750" y="152400"/>
                  </a:lnTo>
                  <a:lnTo>
                    <a:pt x="1443038" y="117157"/>
                  </a:lnTo>
                  <a:lnTo>
                    <a:pt x="1457325" y="82868"/>
                  </a:lnTo>
                  <a:lnTo>
                    <a:pt x="1471612" y="53340"/>
                  </a:lnTo>
                  <a:lnTo>
                    <a:pt x="1485900" y="29528"/>
                  </a:lnTo>
                  <a:lnTo>
                    <a:pt x="1500188" y="11430"/>
                  </a:lnTo>
                  <a:lnTo>
                    <a:pt x="1514475" y="1905"/>
                  </a:lnTo>
                  <a:lnTo>
                    <a:pt x="1528762" y="0"/>
                  </a:lnTo>
                  <a:lnTo>
                    <a:pt x="1543050" y="7620"/>
                  </a:lnTo>
                  <a:lnTo>
                    <a:pt x="1557338" y="22860"/>
                  </a:lnTo>
                  <a:lnTo>
                    <a:pt x="1571625" y="44768"/>
                  </a:lnTo>
                  <a:lnTo>
                    <a:pt x="1585912" y="72390"/>
                  </a:lnTo>
                  <a:lnTo>
                    <a:pt x="1600200" y="105728"/>
                  </a:lnTo>
                  <a:lnTo>
                    <a:pt x="1614488" y="140018"/>
                  </a:lnTo>
                  <a:lnTo>
                    <a:pt x="1628775" y="176212"/>
                  </a:lnTo>
                  <a:lnTo>
                    <a:pt x="1643062" y="210503"/>
                  </a:lnTo>
                  <a:lnTo>
                    <a:pt x="1657350" y="241935"/>
                  </a:lnTo>
                  <a:lnTo>
                    <a:pt x="1671638" y="268605"/>
                  </a:lnTo>
                  <a:lnTo>
                    <a:pt x="1685925" y="288607"/>
                  </a:lnTo>
                  <a:lnTo>
                    <a:pt x="1700212" y="300990"/>
                  </a:lnTo>
                  <a:lnTo>
                    <a:pt x="1714500" y="304800"/>
                  </a:lnTo>
                  <a:lnTo>
                    <a:pt x="1728788" y="300990"/>
                  </a:lnTo>
                  <a:lnTo>
                    <a:pt x="1743075" y="288607"/>
                  </a:lnTo>
                  <a:lnTo>
                    <a:pt x="1757362" y="268605"/>
                  </a:lnTo>
                  <a:lnTo>
                    <a:pt x="1771650" y="241935"/>
                  </a:lnTo>
                  <a:lnTo>
                    <a:pt x="1785938" y="210503"/>
                  </a:lnTo>
                  <a:lnTo>
                    <a:pt x="1800225" y="176212"/>
                  </a:lnTo>
                  <a:lnTo>
                    <a:pt x="1814512" y="140018"/>
                  </a:lnTo>
                  <a:lnTo>
                    <a:pt x="1828800" y="105728"/>
                  </a:lnTo>
                  <a:lnTo>
                    <a:pt x="1843088" y="72390"/>
                  </a:lnTo>
                  <a:lnTo>
                    <a:pt x="1857375" y="44768"/>
                  </a:lnTo>
                  <a:lnTo>
                    <a:pt x="1871662" y="22860"/>
                  </a:lnTo>
                  <a:lnTo>
                    <a:pt x="1885950" y="7620"/>
                  </a:lnTo>
                  <a:lnTo>
                    <a:pt x="1900238" y="0"/>
                  </a:lnTo>
                  <a:lnTo>
                    <a:pt x="1914525" y="1905"/>
                  </a:lnTo>
                  <a:lnTo>
                    <a:pt x="1928812" y="11430"/>
                  </a:lnTo>
                  <a:lnTo>
                    <a:pt x="1943100" y="29528"/>
                  </a:lnTo>
                  <a:lnTo>
                    <a:pt x="1957388" y="53340"/>
                  </a:lnTo>
                  <a:lnTo>
                    <a:pt x="1971675" y="82868"/>
                  </a:lnTo>
                  <a:lnTo>
                    <a:pt x="1985962" y="117157"/>
                  </a:lnTo>
                  <a:lnTo>
                    <a:pt x="2000250" y="152400"/>
                  </a:lnTo>
                  <a:lnTo>
                    <a:pt x="2014538" y="187643"/>
                  </a:lnTo>
                  <a:lnTo>
                    <a:pt x="2028825" y="221932"/>
                  </a:lnTo>
                  <a:lnTo>
                    <a:pt x="2043112" y="251460"/>
                  </a:lnTo>
                  <a:lnTo>
                    <a:pt x="2057400" y="275272"/>
                  </a:lnTo>
                  <a:lnTo>
                    <a:pt x="2071688" y="293370"/>
                  </a:lnTo>
                  <a:lnTo>
                    <a:pt x="2085975" y="302895"/>
                  </a:lnTo>
                  <a:lnTo>
                    <a:pt x="2100262" y="304800"/>
                  </a:lnTo>
                  <a:lnTo>
                    <a:pt x="2114550" y="297180"/>
                  </a:lnTo>
                  <a:lnTo>
                    <a:pt x="2128838" y="281940"/>
                  </a:lnTo>
                  <a:lnTo>
                    <a:pt x="2143125" y="260032"/>
                  </a:lnTo>
                  <a:lnTo>
                    <a:pt x="2157412" y="232410"/>
                  </a:lnTo>
                  <a:lnTo>
                    <a:pt x="2171700" y="199072"/>
                  </a:lnTo>
                  <a:lnTo>
                    <a:pt x="2185988" y="164782"/>
                  </a:lnTo>
                  <a:lnTo>
                    <a:pt x="2200275" y="128588"/>
                  </a:lnTo>
                  <a:lnTo>
                    <a:pt x="2214562" y="94297"/>
                  </a:lnTo>
                  <a:lnTo>
                    <a:pt x="2228850" y="62865"/>
                  </a:lnTo>
                  <a:lnTo>
                    <a:pt x="2243138" y="36195"/>
                  </a:lnTo>
                  <a:lnTo>
                    <a:pt x="2257425" y="16193"/>
                  </a:lnTo>
                  <a:lnTo>
                    <a:pt x="2271712" y="3810"/>
                  </a:lnTo>
                  <a:lnTo>
                    <a:pt x="2286000" y="0"/>
                  </a:lnTo>
                  <a:lnTo>
                    <a:pt x="2300288" y="3810"/>
                  </a:lnTo>
                  <a:lnTo>
                    <a:pt x="2314575" y="16193"/>
                  </a:lnTo>
                  <a:lnTo>
                    <a:pt x="2328862" y="36195"/>
                  </a:lnTo>
                  <a:lnTo>
                    <a:pt x="2343150" y="62865"/>
                  </a:lnTo>
                  <a:lnTo>
                    <a:pt x="2357438" y="94297"/>
                  </a:lnTo>
                  <a:lnTo>
                    <a:pt x="2371725" y="128588"/>
                  </a:lnTo>
                  <a:lnTo>
                    <a:pt x="2386012" y="164782"/>
                  </a:lnTo>
                  <a:lnTo>
                    <a:pt x="2400300" y="199072"/>
                  </a:lnTo>
                  <a:lnTo>
                    <a:pt x="2414588" y="232410"/>
                  </a:lnTo>
                  <a:lnTo>
                    <a:pt x="2428875" y="260032"/>
                  </a:lnTo>
                  <a:lnTo>
                    <a:pt x="2443162" y="281940"/>
                  </a:lnTo>
                  <a:lnTo>
                    <a:pt x="2457450" y="297180"/>
                  </a:lnTo>
                  <a:lnTo>
                    <a:pt x="2471738" y="304800"/>
                  </a:lnTo>
                  <a:lnTo>
                    <a:pt x="2486025" y="302895"/>
                  </a:lnTo>
                  <a:lnTo>
                    <a:pt x="2500312" y="293370"/>
                  </a:lnTo>
                  <a:lnTo>
                    <a:pt x="2514600" y="275272"/>
                  </a:lnTo>
                  <a:lnTo>
                    <a:pt x="2528888" y="251460"/>
                  </a:lnTo>
                  <a:lnTo>
                    <a:pt x="2543175" y="221932"/>
                  </a:lnTo>
                  <a:lnTo>
                    <a:pt x="2557462" y="187643"/>
                  </a:lnTo>
                  <a:lnTo>
                    <a:pt x="2571750" y="152400"/>
                  </a:lnTo>
                  <a:lnTo>
                    <a:pt x="2586038" y="117157"/>
                  </a:lnTo>
                  <a:lnTo>
                    <a:pt x="2600325" y="82868"/>
                  </a:lnTo>
                  <a:lnTo>
                    <a:pt x="2614612" y="53340"/>
                  </a:lnTo>
                  <a:lnTo>
                    <a:pt x="2628900" y="29528"/>
                  </a:lnTo>
                  <a:lnTo>
                    <a:pt x="2643188" y="11430"/>
                  </a:lnTo>
                  <a:lnTo>
                    <a:pt x="2657475" y="1905"/>
                  </a:lnTo>
                  <a:lnTo>
                    <a:pt x="2671762" y="0"/>
                  </a:lnTo>
                  <a:lnTo>
                    <a:pt x="2686050" y="7620"/>
                  </a:lnTo>
                  <a:lnTo>
                    <a:pt x="2700338" y="22860"/>
                  </a:lnTo>
                  <a:lnTo>
                    <a:pt x="2714625" y="44768"/>
                  </a:lnTo>
                  <a:lnTo>
                    <a:pt x="2728912" y="72390"/>
                  </a:lnTo>
                  <a:lnTo>
                    <a:pt x="2743200" y="105728"/>
                  </a:lnTo>
                  <a:lnTo>
                    <a:pt x="2757488" y="140018"/>
                  </a:lnTo>
                  <a:lnTo>
                    <a:pt x="2771775" y="176212"/>
                  </a:lnTo>
                  <a:lnTo>
                    <a:pt x="2786062" y="210503"/>
                  </a:lnTo>
                  <a:lnTo>
                    <a:pt x="2800350" y="241935"/>
                  </a:lnTo>
                  <a:lnTo>
                    <a:pt x="2814638" y="268605"/>
                  </a:lnTo>
                  <a:lnTo>
                    <a:pt x="2828925" y="288607"/>
                  </a:lnTo>
                  <a:lnTo>
                    <a:pt x="2843212" y="300990"/>
                  </a:lnTo>
                  <a:lnTo>
                    <a:pt x="2857500" y="304800"/>
                  </a:lnTo>
                  <a:lnTo>
                    <a:pt x="2871788" y="300990"/>
                  </a:lnTo>
                  <a:lnTo>
                    <a:pt x="2886075" y="288607"/>
                  </a:lnTo>
                  <a:lnTo>
                    <a:pt x="2900362" y="268605"/>
                  </a:lnTo>
                  <a:lnTo>
                    <a:pt x="2914650" y="241935"/>
                  </a:lnTo>
                  <a:lnTo>
                    <a:pt x="2928938" y="210503"/>
                  </a:lnTo>
                  <a:lnTo>
                    <a:pt x="2943225" y="176212"/>
                  </a:lnTo>
                  <a:lnTo>
                    <a:pt x="2957512" y="140018"/>
                  </a:lnTo>
                  <a:lnTo>
                    <a:pt x="2971800" y="105728"/>
                  </a:lnTo>
                  <a:lnTo>
                    <a:pt x="2986088" y="72390"/>
                  </a:lnTo>
                  <a:lnTo>
                    <a:pt x="3000375" y="44768"/>
                  </a:lnTo>
                  <a:lnTo>
                    <a:pt x="3014662" y="22860"/>
                  </a:lnTo>
                  <a:lnTo>
                    <a:pt x="3028950" y="7620"/>
                  </a:lnTo>
                  <a:lnTo>
                    <a:pt x="3043238" y="0"/>
                  </a:lnTo>
                  <a:lnTo>
                    <a:pt x="3057525" y="1905"/>
                  </a:lnTo>
                  <a:lnTo>
                    <a:pt x="3071812" y="11430"/>
                  </a:lnTo>
                  <a:lnTo>
                    <a:pt x="3086100" y="29528"/>
                  </a:lnTo>
                  <a:lnTo>
                    <a:pt x="3100388" y="53340"/>
                  </a:lnTo>
                  <a:lnTo>
                    <a:pt x="3114675" y="82868"/>
                  </a:lnTo>
                  <a:lnTo>
                    <a:pt x="3128962" y="117157"/>
                  </a:lnTo>
                  <a:lnTo>
                    <a:pt x="3143250" y="152400"/>
                  </a:lnTo>
                  <a:lnTo>
                    <a:pt x="3157538" y="187643"/>
                  </a:lnTo>
                  <a:lnTo>
                    <a:pt x="3171825" y="221932"/>
                  </a:lnTo>
                  <a:lnTo>
                    <a:pt x="3186112" y="251460"/>
                  </a:lnTo>
                  <a:lnTo>
                    <a:pt x="3200400" y="275272"/>
                  </a:lnTo>
                  <a:lnTo>
                    <a:pt x="3214688" y="293370"/>
                  </a:lnTo>
                  <a:lnTo>
                    <a:pt x="3228975" y="302895"/>
                  </a:lnTo>
                  <a:lnTo>
                    <a:pt x="3243262" y="304800"/>
                  </a:lnTo>
                  <a:lnTo>
                    <a:pt x="3257550" y="297180"/>
                  </a:lnTo>
                  <a:lnTo>
                    <a:pt x="3271838" y="281940"/>
                  </a:lnTo>
                  <a:lnTo>
                    <a:pt x="3286125" y="260032"/>
                  </a:lnTo>
                  <a:lnTo>
                    <a:pt x="3300412" y="232410"/>
                  </a:lnTo>
                  <a:lnTo>
                    <a:pt x="3314700" y="199072"/>
                  </a:lnTo>
                  <a:lnTo>
                    <a:pt x="3328988" y="164782"/>
                  </a:lnTo>
                  <a:lnTo>
                    <a:pt x="3343275" y="128588"/>
                  </a:lnTo>
                  <a:lnTo>
                    <a:pt x="3357562" y="94297"/>
                  </a:lnTo>
                  <a:lnTo>
                    <a:pt x="3371850" y="62865"/>
                  </a:lnTo>
                  <a:lnTo>
                    <a:pt x="3386138" y="36195"/>
                  </a:lnTo>
                  <a:lnTo>
                    <a:pt x="3400425" y="16193"/>
                  </a:lnTo>
                  <a:lnTo>
                    <a:pt x="3414712" y="3810"/>
                  </a:lnTo>
                  <a:lnTo>
                    <a:pt x="3429000" y="0"/>
                  </a:lnTo>
                  <a:lnTo>
                    <a:pt x="3443288" y="3810"/>
                  </a:lnTo>
                  <a:lnTo>
                    <a:pt x="3457575" y="16193"/>
                  </a:lnTo>
                  <a:lnTo>
                    <a:pt x="3471862" y="36195"/>
                  </a:lnTo>
                  <a:lnTo>
                    <a:pt x="3486150" y="62865"/>
                  </a:lnTo>
                  <a:lnTo>
                    <a:pt x="3500438" y="94297"/>
                  </a:lnTo>
                  <a:lnTo>
                    <a:pt x="3514725" y="128588"/>
                  </a:lnTo>
                  <a:lnTo>
                    <a:pt x="3529012" y="164782"/>
                  </a:lnTo>
                  <a:lnTo>
                    <a:pt x="3543300" y="199072"/>
                  </a:lnTo>
                  <a:lnTo>
                    <a:pt x="3557588" y="232410"/>
                  </a:lnTo>
                  <a:lnTo>
                    <a:pt x="3571875" y="260032"/>
                  </a:lnTo>
                  <a:lnTo>
                    <a:pt x="3586162" y="281940"/>
                  </a:lnTo>
                  <a:lnTo>
                    <a:pt x="3600450" y="297180"/>
                  </a:lnTo>
                  <a:lnTo>
                    <a:pt x="3614738" y="304800"/>
                  </a:lnTo>
                  <a:lnTo>
                    <a:pt x="3629025" y="302895"/>
                  </a:lnTo>
                  <a:lnTo>
                    <a:pt x="3643312" y="293370"/>
                  </a:lnTo>
                  <a:lnTo>
                    <a:pt x="3657600" y="275272"/>
                  </a:lnTo>
                  <a:lnTo>
                    <a:pt x="3671888" y="251460"/>
                  </a:lnTo>
                  <a:lnTo>
                    <a:pt x="3686175" y="221932"/>
                  </a:lnTo>
                  <a:lnTo>
                    <a:pt x="3700462" y="187643"/>
                  </a:lnTo>
                  <a:lnTo>
                    <a:pt x="3714750" y="152400"/>
                  </a:lnTo>
                  <a:lnTo>
                    <a:pt x="3729038" y="117157"/>
                  </a:lnTo>
                  <a:lnTo>
                    <a:pt x="3743325" y="82868"/>
                  </a:lnTo>
                  <a:lnTo>
                    <a:pt x="3757612" y="53340"/>
                  </a:lnTo>
                  <a:lnTo>
                    <a:pt x="3771900" y="29528"/>
                  </a:lnTo>
                  <a:lnTo>
                    <a:pt x="3786188" y="11430"/>
                  </a:lnTo>
                  <a:lnTo>
                    <a:pt x="3800475" y="1905"/>
                  </a:lnTo>
                  <a:lnTo>
                    <a:pt x="3814762" y="0"/>
                  </a:lnTo>
                  <a:lnTo>
                    <a:pt x="3829050" y="7620"/>
                  </a:lnTo>
                  <a:lnTo>
                    <a:pt x="3843338" y="22860"/>
                  </a:lnTo>
                  <a:lnTo>
                    <a:pt x="3857625" y="44768"/>
                  </a:lnTo>
                  <a:lnTo>
                    <a:pt x="3871912" y="72390"/>
                  </a:lnTo>
                  <a:lnTo>
                    <a:pt x="3886200" y="105728"/>
                  </a:lnTo>
                  <a:lnTo>
                    <a:pt x="3900488" y="140018"/>
                  </a:lnTo>
                  <a:lnTo>
                    <a:pt x="3914775" y="176212"/>
                  </a:lnTo>
                  <a:lnTo>
                    <a:pt x="3929062" y="210503"/>
                  </a:lnTo>
                  <a:lnTo>
                    <a:pt x="3943350" y="241935"/>
                  </a:lnTo>
                  <a:lnTo>
                    <a:pt x="3957638" y="268605"/>
                  </a:lnTo>
                  <a:lnTo>
                    <a:pt x="3971925" y="288607"/>
                  </a:lnTo>
                  <a:lnTo>
                    <a:pt x="3986212" y="300990"/>
                  </a:lnTo>
                  <a:lnTo>
                    <a:pt x="4000500" y="304800"/>
                  </a:lnTo>
                  <a:lnTo>
                    <a:pt x="4014788" y="300990"/>
                  </a:lnTo>
                  <a:lnTo>
                    <a:pt x="4029075" y="288607"/>
                  </a:lnTo>
                  <a:lnTo>
                    <a:pt x="4043362" y="268605"/>
                  </a:lnTo>
                  <a:lnTo>
                    <a:pt x="4057650" y="241935"/>
                  </a:lnTo>
                  <a:lnTo>
                    <a:pt x="4071938" y="210503"/>
                  </a:lnTo>
                  <a:lnTo>
                    <a:pt x="4086225" y="176212"/>
                  </a:lnTo>
                  <a:lnTo>
                    <a:pt x="4100512" y="140018"/>
                  </a:lnTo>
                  <a:lnTo>
                    <a:pt x="4114800" y="105728"/>
                  </a:lnTo>
                  <a:lnTo>
                    <a:pt x="4129088" y="72390"/>
                  </a:lnTo>
                  <a:lnTo>
                    <a:pt x="4143375" y="44768"/>
                  </a:lnTo>
                  <a:lnTo>
                    <a:pt x="4157662" y="22860"/>
                  </a:lnTo>
                  <a:lnTo>
                    <a:pt x="4171950" y="7620"/>
                  </a:lnTo>
                  <a:lnTo>
                    <a:pt x="4186238" y="0"/>
                  </a:lnTo>
                  <a:lnTo>
                    <a:pt x="4200525" y="1905"/>
                  </a:lnTo>
                  <a:lnTo>
                    <a:pt x="4214812" y="11430"/>
                  </a:lnTo>
                  <a:lnTo>
                    <a:pt x="4229100" y="29528"/>
                  </a:lnTo>
                  <a:lnTo>
                    <a:pt x="4243388" y="53340"/>
                  </a:lnTo>
                  <a:lnTo>
                    <a:pt x="4257675" y="82868"/>
                  </a:lnTo>
                  <a:lnTo>
                    <a:pt x="4271962" y="117157"/>
                  </a:lnTo>
                  <a:lnTo>
                    <a:pt x="4286250" y="152400"/>
                  </a:lnTo>
                  <a:lnTo>
                    <a:pt x="4300538" y="187643"/>
                  </a:lnTo>
                  <a:lnTo>
                    <a:pt x="4314825" y="221932"/>
                  </a:lnTo>
                  <a:lnTo>
                    <a:pt x="4329112" y="251460"/>
                  </a:lnTo>
                  <a:lnTo>
                    <a:pt x="4343400" y="275272"/>
                  </a:lnTo>
                  <a:lnTo>
                    <a:pt x="4357688" y="293370"/>
                  </a:lnTo>
                  <a:lnTo>
                    <a:pt x="4371975" y="302895"/>
                  </a:lnTo>
                  <a:lnTo>
                    <a:pt x="4386262" y="304800"/>
                  </a:lnTo>
                  <a:lnTo>
                    <a:pt x="4400550" y="297180"/>
                  </a:lnTo>
                  <a:lnTo>
                    <a:pt x="4414838" y="281940"/>
                  </a:lnTo>
                  <a:lnTo>
                    <a:pt x="4429125" y="260032"/>
                  </a:lnTo>
                  <a:lnTo>
                    <a:pt x="4443412" y="232410"/>
                  </a:lnTo>
                  <a:lnTo>
                    <a:pt x="4457700" y="199072"/>
                  </a:lnTo>
                  <a:lnTo>
                    <a:pt x="4471988" y="164782"/>
                  </a:lnTo>
                  <a:lnTo>
                    <a:pt x="4486275" y="128588"/>
                  </a:lnTo>
                  <a:lnTo>
                    <a:pt x="4500562" y="94297"/>
                  </a:lnTo>
                  <a:lnTo>
                    <a:pt x="4514850" y="62865"/>
                  </a:lnTo>
                  <a:lnTo>
                    <a:pt x="4529138" y="36195"/>
                  </a:lnTo>
                  <a:lnTo>
                    <a:pt x="4543425" y="16193"/>
                  </a:lnTo>
                  <a:lnTo>
                    <a:pt x="4557712" y="3810"/>
                  </a:lnTo>
                  <a:lnTo>
                    <a:pt x="4572000" y="0"/>
                  </a:lnTo>
                  <a:lnTo>
                    <a:pt x="4586288" y="3810"/>
                  </a:lnTo>
                  <a:lnTo>
                    <a:pt x="4600575" y="16193"/>
                  </a:lnTo>
                  <a:lnTo>
                    <a:pt x="4614862" y="36195"/>
                  </a:lnTo>
                  <a:lnTo>
                    <a:pt x="4629150" y="62865"/>
                  </a:lnTo>
                  <a:lnTo>
                    <a:pt x="4643438" y="94297"/>
                  </a:lnTo>
                  <a:lnTo>
                    <a:pt x="4657725" y="128588"/>
                  </a:lnTo>
                </a:path>
              </a:pathLst>
            </a:custGeom>
            <a:noFill/>
            <a:ln w="23812">
              <a:solidFill>
                <a:schemeClr val="accent3"/>
              </a:solidFill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8"/>
                <p:cNvSpPr txBox="1"/>
                <p:nvPr/>
              </p:nvSpPr>
              <p:spPr>
                <a:xfrm>
                  <a:off x="6471666" y="5568950"/>
                  <a:ext cx="3066930" cy="1615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相位转得越快，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05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05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lang="zh-CN" altLang="en-US" sz="1050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zh-CN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 起伏越剧烈 → 相邻时隙越不相关</a:t>
                  </a:r>
                </a:p>
              </p:txBody>
            </p:sp>
          </mc:Choice>
          <mc:Fallback xmlns="">
            <p:sp>
              <p:nvSpPr>
                <p:cNvPr id="58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1666" y="5568950"/>
                  <a:ext cx="3066930" cy="161583"/>
                </a:xfrm>
                <a:prstGeom prst="rect">
                  <a:avLst/>
                </a:prstGeom>
                <a:blipFill>
                  <a:blip r:embed="rId12"/>
                  <a:stretch>
                    <a:fillRect l="-2783" t="-26923" r="-1789" b="-5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takeaway-note"/>
          <p:cNvGrpSpPr/>
          <p:nvPr/>
        </p:nvGrpSpPr>
        <p:grpSpPr>
          <a:xfrm>
            <a:off x="640556" y="6088856"/>
            <a:ext cx="8272473" cy="240293"/>
            <a:chOff x="640556" y="6088856"/>
            <a:chExt cx="8272473" cy="240293"/>
          </a:xfrm>
        </p:grpSpPr>
        <p:grpSp>
          <p:nvGrpSpPr>
            <p:cNvPr id="63" name="Group 63"/>
            <p:cNvGrpSpPr/>
            <p:nvPr/>
          </p:nvGrpSpPr>
          <p:grpSpPr>
            <a:xfrm>
              <a:off x="640556" y="6088856"/>
              <a:ext cx="185737" cy="185737"/>
              <a:chOff x="640556" y="6088856"/>
              <a:chExt cx="185737" cy="185737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0556" y="6088856"/>
                <a:ext cx="185737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2868">
                    <a:moveTo>
                      <a:pt x="0" y="92868"/>
                    </a:moveTo>
                    <a:lnTo>
                      <a:pt x="10319" y="92868"/>
                    </a:lnTo>
                    <a:moveTo>
                      <a:pt x="92868" y="0"/>
                    </a:moveTo>
                    <a:lnTo>
                      <a:pt x="92868" y="10319"/>
                    </a:lnTo>
                    <a:moveTo>
                      <a:pt x="175418" y="92868"/>
                    </a:moveTo>
                    <a:lnTo>
                      <a:pt x="185737" y="92868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8" y="26829"/>
                    </a:moveTo>
                    <a:lnTo>
                      <a:pt x="151685" y="34052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7456" y="6130131"/>
                <a:ext cx="11193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7" h="144462">
                    <a:moveTo>
                      <a:pt x="25012" y="92868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7" y="56346"/>
                      <a:pt x="104691" y="79544"/>
                      <a:pt x="86925" y="92868"/>
                    </a:cubicBezTo>
                    <a:cubicBezTo>
                      <a:pt x="78754" y="100957"/>
                      <a:pt x="74922" y="112452"/>
                      <a:pt x="76606" y="123825"/>
                    </a:cubicBezTo>
                    <a:cubicBezTo>
                      <a:pt x="76606" y="135222"/>
                      <a:pt x="67366" y="144462"/>
                      <a:pt x="55969" y="144462"/>
                    </a:cubicBezTo>
                    <a:cubicBezTo>
                      <a:pt x="44571" y="144462"/>
                      <a:pt x="35331" y="135222"/>
                      <a:pt x="35331" y="123825"/>
                    </a:cubicBezTo>
                    <a:cubicBezTo>
                      <a:pt x="37015" y="112452"/>
                      <a:pt x="33183" y="100957"/>
                      <a:pt x="25012" y="92868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09692" y="6233318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4"/>
                <p:cNvSpPr txBox="1"/>
                <p:nvPr/>
              </p:nvSpPr>
              <p:spPr>
                <a:xfrm>
                  <a:off x="983742" y="6121400"/>
                  <a:ext cx="7929287" cy="2077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多普勒不是独立模块：速度 →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sub>
                      </m:sSub>
                    </m:oMath>
                  </a14:m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 → 相位旋转 → 相关性 → 跨时隙搬运空间（P13：+9.9% → +21.0%）</a:t>
                  </a:r>
                </a:p>
              </p:txBody>
            </p:sp>
          </mc:Choice>
          <mc:Fallback xmlns="">
            <p:sp>
              <p:nvSpPr>
                <p:cNvPr id="64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742" y="6121400"/>
                  <a:ext cx="7929287" cy="207749"/>
                </a:xfrm>
                <a:prstGeom prst="rect">
                  <a:avLst/>
                </a:prstGeom>
                <a:blipFill>
                  <a:blip r:embed="rId13"/>
                  <a:stretch>
                    <a:fillRect l="-1307" t="-29412" r="-461" b="-5294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604266" y="520700"/>
            <a:ext cx="10978134" cy="288925"/>
            <a:chOff x="604266" y="520700"/>
            <a:chExt cx="10978134" cy="28892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20700"/>
              <a:ext cx="994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P09 · 方法对比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94360" y="1041400"/>
            <a:ext cx="7139775" cy="961644"/>
            <a:chOff x="594360" y="1041400"/>
            <a:chExt cx="7139775" cy="961644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041400"/>
              <a:ext cx="71397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三种方法：</a:t>
              </a:r>
              <a:r>
                <a:rPr lang="zh-CN" alt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平均分配</a:t>
              </a:r>
              <a:r>
                <a:rPr lang="en-US" alt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,</a:t>
              </a:r>
              <a:r>
                <a:rPr lang="zh-CN" alt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注水算法和</a:t>
              </a:r>
              <a:r>
                <a:rPr lang="zh-CN" altLang="en-US" sz="3000" b="1" dirty="0">
                  <a:solidFill>
                    <a:schemeClr val="accent1"/>
                  </a:solidFill>
                </a:rPr>
                <a:t>在线决策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1651000"/>
              <a:ext cx="57611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读同一批信道轨迹，唯一差异是可用信息 —— 严格可比</a:t>
              </a:r>
            </a:p>
          </p:txBody>
        </p:sp>
      </p:grpSp>
      <p:graphicFrame>
        <p:nvGraphicFramePr>
          <p:cNvPr id="8" name="method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640915"/>
              </p:ext>
            </p:extLst>
          </p:nvPr>
        </p:nvGraphicFramePr>
        <p:xfrm>
          <a:off x="609600" y="2209800"/>
          <a:ext cx="10972800" cy="3124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chemeClr val="accent1"/>
                          </a:solidFill>
                          <a:latin typeface="Arial"/>
                          <a:ea typeface="Microsoft YaHei"/>
                          <a:cs typeface="Arial"/>
                        </a:rPr>
                        <a:t>方法</a:t>
                      </a:r>
                    </a:p>
                  </a:txBody>
                  <a:tcPr marL="133350" marR="13335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chemeClr val="accent1"/>
                          </a:solidFill>
                          <a:latin typeface="Arial"/>
                          <a:ea typeface="Microsoft YaHei"/>
                          <a:cs typeface="Arial"/>
                        </a:rPr>
                        <a:t>可用信息</a:t>
                      </a:r>
                    </a:p>
                  </a:txBody>
                  <a:tcPr marL="133350" marR="13335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chemeClr val="accent1"/>
                          </a:solidFill>
                          <a:latin typeface="Arial"/>
                          <a:ea typeface="Microsoft YaHei"/>
                          <a:cs typeface="Arial"/>
                        </a:rPr>
                        <a:t>决策形式</a:t>
                      </a:r>
                    </a:p>
                  </a:txBody>
                  <a:tcPr marL="133350" marR="13335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chemeClr val="accent1"/>
                          </a:solidFill>
                          <a:latin typeface="Arial"/>
                          <a:ea typeface="Microsoft YaHei"/>
                          <a:cs typeface="Arial"/>
                        </a:rPr>
                        <a:t>角色</a:t>
                      </a:r>
                    </a:p>
                  </a:txBody>
                  <a:tcPr marL="133350" marR="13335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chemeClr val="accent1"/>
                          </a:solidFill>
                          <a:latin typeface="Arial"/>
                          <a:ea typeface="Microsoft YaHei"/>
                          <a:cs typeface="Arial"/>
                        </a:rPr>
                        <a:t>均匀分配</a:t>
                      </a:r>
                    </a:p>
                  </a:txBody>
                  <a:tcPr marL="133350" marR="133350" marT="133350" marB="1333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3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无信道信息</a:t>
                      </a:r>
                    </a:p>
                  </a:txBody>
                  <a:tcPr marL="133350" marR="133350" marT="133350" marB="1333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35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p_t = 平均功率，恒定发射</a:t>
                      </a:r>
                    </a:p>
                  </a:txBody>
                  <a:tcPr marL="133350" marR="133350" marT="133350" marB="1333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350" b="0" dirty="0">
                          <a:solidFill>
                            <a:schemeClr val="accent5"/>
                          </a:solidFill>
                          <a:latin typeface="Arial"/>
                          <a:ea typeface="Microsoft YaHei"/>
                          <a:cs typeface="Arial"/>
                        </a:rPr>
                        <a:t>下界</a:t>
                      </a:r>
                    </a:p>
                  </a:txBody>
                  <a:tcPr marL="133350" marR="133350" marT="133350" marB="1333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chemeClr val="accent1"/>
                          </a:solidFill>
                          <a:latin typeface="Arial"/>
                          <a:ea typeface="Microsoft YaHei"/>
                          <a:cs typeface="Arial"/>
                        </a:rPr>
                        <a:t>注水 Water-filling</a:t>
                      </a:r>
                    </a:p>
                  </a:txBody>
                  <a:tcPr marL="133350" marR="133350" marT="133350" marB="1333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350" b="0" dirty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非因果：</a:t>
                      </a:r>
                      <a:r>
                        <a:rPr lang="en-US" altLang="zh-CN" sz="1350" b="0" dirty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Perfect CSI</a:t>
                      </a:r>
                      <a:endParaRPr lang="zh-CN" sz="1350" b="0" dirty="0">
                        <a:solidFill>
                          <a:schemeClr val="dk1"/>
                        </a:solidFill>
                        <a:latin typeface="Arial"/>
                        <a:ea typeface="Microsoft YaHei"/>
                        <a:cs typeface="Arial"/>
                      </a:endParaRPr>
                    </a:p>
                  </a:txBody>
                  <a:tcPr marL="133350" marR="133350" marT="133350" marB="1333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500" b="0" dirty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连续闭式</a:t>
                      </a:r>
                    </a:p>
                    <a:p>
                      <a:r>
                        <a:rPr lang="el-GR" sz="1500" b="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</a:rPr>
                        <a:t>p* = clip(μ − N/g_t, 0, p_max)</a:t>
                      </a:r>
                    </a:p>
                  </a:txBody>
                  <a:tcPr marL="133350" marR="133350" marT="133350" marB="1333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50" b="0" dirty="0" err="1">
                          <a:solidFill>
                            <a:schemeClr val="accent5"/>
                          </a:solidFill>
                          <a:latin typeface="Arial"/>
                          <a:ea typeface="Microsoft YaHei"/>
                          <a:cs typeface="Arial"/>
                        </a:rPr>
                        <a:t>Pefect</a:t>
                      </a:r>
                      <a:r>
                        <a:rPr lang="zh-CN" altLang="en-US" sz="1350" b="0" dirty="0">
                          <a:solidFill>
                            <a:schemeClr val="accent5"/>
                          </a:solidFill>
                          <a:latin typeface="Arial"/>
                          <a:ea typeface="Microsoft YaHei"/>
                          <a:cs typeface="Arial"/>
                        </a:rPr>
                        <a:t> </a:t>
                      </a:r>
                      <a:r>
                        <a:rPr lang="en-US" altLang="zh-CN" sz="1350" b="0" dirty="0">
                          <a:solidFill>
                            <a:schemeClr val="accent5"/>
                          </a:solidFill>
                          <a:latin typeface="Arial"/>
                          <a:ea typeface="Microsoft YaHei"/>
                          <a:cs typeface="Arial"/>
                        </a:rPr>
                        <a:t>CSI </a:t>
                      </a:r>
                      <a:r>
                        <a:rPr lang="zh-CN" altLang="en-US" sz="1350" b="0" dirty="0">
                          <a:solidFill>
                            <a:schemeClr val="accent5"/>
                          </a:solidFill>
                          <a:latin typeface="Arial"/>
                          <a:ea typeface="Microsoft YaHei"/>
                          <a:cs typeface="Arial"/>
                        </a:rPr>
                        <a:t>理论上界</a:t>
                      </a:r>
                      <a:endParaRPr lang="zh-CN" sz="1350" b="0" dirty="0">
                        <a:solidFill>
                          <a:schemeClr val="accent5"/>
                        </a:solidFill>
                        <a:latin typeface="Arial"/>
                        <a:ea typeface="Microsoft YaHei"/>
                        <a:cs typeface="Arial"/>
                      </a:endParaRPr>
                    </a:p>
                  </a:txBody>
                  <a:tcPr marL="133350" marR="133350" marT="133350" marB="1333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zh-CN" altLang="en-US" sz="1500" b="1" dirty="0">
                          <a:solidFill>
                            <a:schemeClr val="accent2"/>
                          </a:solidFill>
                          <a:latin typeface="Arial"/>
                          <a:ea typeface="Microsoft YaHei"/>
                          <a:cs typeface="Arial"/>
                        </a:rPr>
                        <a:t>在线决策</a:t>
                      </a:r>
                      <a:endParaRPr lang="zh-CN" sz="1500" b="1" dirty="0">
                        <a:solidFill>
                          <a:schemeClr val="accent2"/>
                        </a:solidFill>
                        <a:latin typeface="Arial"/>
                        <a:ea typeface="Microsoft YaHei"/>
                        <a:cs typeface="Arial"/>
                      </a:endParaRPr>
                    </a:p>
                  </a:txBody>
                  <a:tcPr marL="133350" marR="133350" marT="133350" marB="133350" anchor="ctr">
                    <a:lnL w="28575">
                      <a:solidFill>
                        <a:schemeClr val="accent2"/>
                      </a:solidFill>
                      <a:prstDash val="solid"/>
                    </a:lnL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350" b="0" dirty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因果：</a:t>
                      </a:r>
                      <a:r>
                        <a:rPr lang="en-US" altLang="zh-CN" sz="1350" b="0" dirty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Outdated CSI</a:t>
                      </a:r>
                      <a:endParaRPr lang="zh-CN" sz="1350" b="0" dirty="0">
                        <a:solidFill>
                          <a:schemeClr val="dk1"/>
                        </a:solidFill>
                        <a:latin typeface="Arial"/>
                        <a:ea typeface="Microsoft YaHei"/>
                        <a:cs typeface="Arial"/>
                      </a:endParaRPr>
                    </a:p>
                  </a:txBody>
                  <a:tcPr marL="133350" marR="133350" marT="133350" marB="133350" anchor="ctr"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50" b="0" dirty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动作空间；奖励函数</a:t>
                      </a:r>
                      <a:endParaRPr lang="zh-CN" sz="1350" b="0" dirty="0">
                        <a:solidFill>
                          <a:schemeClr val="dk1"/>
                        </a:solidFill>
                        <a:latin typeface="Arial"/>
                        <a:ea typeface="Microsoft YaHei"/>
                        <a:cs typeface="Arial"/>
                      </a:endParaRPr>
                    </a:p>
                  </a:txBody>
                  <a:tcPr marL="133350" marR="133350" marT="133350" marB="1333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350" b="1" dirty="0">
                          <a:solidFill>
                            <a:schemeClr val="accent2"/>
                          </a:solidFill>
                          <a:latin typeface="Arial"/>
                          <a:ea typeface="Microsoft YaHei"/>
                          <a:cs typeface="Arial"/>
                        </a:rPr>
                        <a:t>现实</a:t>
                      </a:r>
                      <a:r>
                        <a:rPr lang="zh-CN" altLang="en-US" sz="1350" b="1" dirty="0">
                          <a:solidFill>
                            <a:schemeClr val="accent2"/>
                          </a:solidFill>
                          <a:latin typeface="Arial"/>
                          <a:ea typeface="Microsoft YaHei"/>
                          <a:cs typeface="Arial"/>
                        </a:rPr>
                        <a:t>或</a:t>
                      </a:r>
                      <a:r>
                        <a:rPr lang="zh-CN" sz="1350" b="1" dirty="0">
                          <a:solidFill>
                            <a:schemeClr val="accent2"/>
                          </a:solidFill>
                          <a:latin typeface="Arial"/>
                          <a:ea typeface="Microsoft YaHei"/>
                          <a:cs typeface="Arial"/>
                        </a:rPr>
                        <a:t>可达</a:t>
                      </a:r>
                    </a:p>
                  </a:txBody>
                  <a:tcPr marL="133350" marR="133350" marT="133350" marB="1333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" name="comparability-note"/>
          <p:cNvGrpSpPr/>
          <p:nvPr/>
        </p:nvGrpSpPr>
        <p:grpSpPr>
          <a:xfrm>
            <a:off x="665163" y="5613400"/>
            <a:ext cx="7226681" cy="293370"/>
            <a:chOff x="665163" y="5613400"/>
            <a:chExt cx="7226681" cy="293370"/>
          </a:xfrm>
        </p:grpSpPr>
        <p:sp>
          <p:nvSpPr>
            <p:cNvPr id="9" name="Freeform 9"/>
            <p:cNvSpPr/>
            <p:nvPr/>
          </p:nvSpPr>
          <p:spPr>
            <a:xfrm>
              <a:off x="665163" y="5678488"/>
              <a:ext cx="166688" cy="111125"/>
            </a:xfrm>
            <a:custGeom>
              <a:avLst/>
              <a:gdLst/>
              <a:ahLst/>
              <a:cxnLst/>
              <a:rect l="l" t="t" r="r" b="b"/>
              <a:pathLst>
                <a:path w="166688" h="111125">
                  <a:moveTo>
                    <a:pt x="0" y="55563"/>
                  </a:moveTo>
                  <a:lnTo>
                    <a:pt x="55563" y="111125"/>
                  </a:lnTo>
                  <a:lnTo>
                    <a:pt x="166688" y="0"/>
                  </a:lnTo>
                </a:path>
              </a:pathLst>
            </a:custGeom>
            <a:noFill/>
            <a:ln w="2222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1080" y="5613400"/>
              <a:ext cx="68707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三方法消费同一 npz 信道数据集，速率计算口径一致 —— 唯一变量是可用信息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604266" y="520700"/>
            <a:ext cx="10978134" cy="288925"/>
            <a:chOff x="604266" y="520700"/>
            <a:chExt cx="10978134" cy="28892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20700"/>
              <a:ext cx="11356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P10 · 凸优化入门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94360" y="1041400"/>
            <a:ext cx="6411925" cy="961644"/>
            <a:chOff x="594360" y="1041400"/>
            <a:chExt cx="6411925" cy="961644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041400"/>
              <a:ext cx="57708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凸优化：为什么这个问题「好解」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1651000"/>
              <a:ext cx="64058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目标凹 + 约束线性 → 局部最优就是全局最优，KKT 条件充要</a:t>
              </a:r>
            </a:p>
          </p:txBody>
        </p:sp>
      </p:grpSp>
      <p:grpSp>
        <p:nvGrpSpPr>
          <p:cNvPr id="22" name="convex-three"/>
          <p:cNvGrpSpPr/>
          <p:nvPr/>
        </p:nvGrpSpPr>
        <p:grpSpPr>
          <a:xfrm>
            <a:off x="601980" y="2209800"/>
            <a:ext cx="9721596" cy="1015746"/>
            <a:chOff x="601980" y="2209800"/>
            <a:chExt cx="9721596" cy="1015746"/>
          </a:xfrm>
        </p:grpSpPr>
        <p:sp>
          <p:nvSpPr>
            <p:cNvPr id="8" name="Rectangle 8"/>
            <p:cNvSpPr/>
            <p:nvPr/>
          </p:nvSpPr>
          <p:spPr>
            <a:xfrm>
              <a:off x="609600" y="2209800"/>
              <a:ext cx="4572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1980" y="2432050"/>
              <a:ext cx="1608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目标函数是凹的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27305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加功率的回报越来越小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3504" y="2990850"/>
              <a:ext cx="19455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log₂(1+p·g/N) 二阶导 &lt; 0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191000" y="22098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191000" y="2209800"/>
              <a:ext cx="4572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183380" y="2432050"/>
              <a:ext cx="14070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约束是线性的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84142" y="27305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功率上下界、能量预算都是线性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4904" y="299085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可行域是凸集，没有空洞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772400" y="22098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72400" y="2209800"/>
              <a:ext cx="4572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64780" y="2432050"/>
              <a:ext cx="221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于是：局部最优即全局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65542" y="27305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找到的任一最优解就是全局最优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66304" y="299085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不必穷举所有分配方案</a:t>
              </a:r>
            </a:p>
          </p:txBody>
        </p:sp>
      </p:grpSp>
      <p:grpSp>
        <p:nvGrpSpPr>
          <p:cNvPr id="33" name="why-convex"/>
          <p:cNvGrpSpPr/>
          <p:nvPr/>
        </p:nvGrpSpPr>
        <p:grpSpPr>
          <a:xfrm>
            <a:off x="601980" y="3670300"/>
            <a:ext cx="6256020" cy="2235200"/>
            <a:chOff x="601980" y="3670300"/>
            <a:chExt cx="6256020" cy="2235200"/>
          </a:xfrm>
        </p:grpSpPr>
        <p:sp>
          <p:nvSpPr>
            <p:cNvPr id="23" name="TextBox 23"/>
            <p:cNvSpPr txBox="1"/>
            <p:nvPr/>
          </p:nvSpPr>
          <p:spPr>
            <a:xfrm>
              <a:off x="601980" y="36703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本问题为什么是凸的？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53256" y="402351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7463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6592" y="3968750"/>
              <a:ext cx="3130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目标凹：每时隙 log 速率对 p 是凹函数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53256" y="440451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7463">
              <a:solidFill>
                <a:schemeClr val="accent2"/>
              </a:solidFill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7"/>
                <p:cNvSpPr txBox="1"/>
                <p:nvPr/>
              </p:nvSpPr>
              <p:spPr>
                <a:xfrm>
                  <a:off x="926592" y="4349750"/>
                  <a:ext cx="3116494" cy="2077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约束线性：0 ≤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≤ p_max 与 </a:t>
                  </a:r>
                  <a14:m>
                    <m:oMath xmlns:m="http://schemas.openxmlformats.org/officeDocument/2006/math">
                      <m:r>
                        <a:rPr lang="zh-CN" altLang="en-US" sz="135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𝛴</m:t>
                      </m:r>
                      <m:sSub>
                        <m:sSubPr>
                          <m:ctrlP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US" altLang="zh-CN" sz="1350" i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·</m:t>
                      </m:r>
                      <m:r>
                        <a:rPr lang="zh-CN" altLang="en-US" sz="135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𝛥</m:t>
                      </m:r>
                      <m:r>
                        <a:rPr lang="zh-CN" altLang="en-US" sz="135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lang="zh-CN" altLang="en-US" sz="1350" i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r>
                        <a:rPr lang="zh-CN" altLang="en-US" sz="135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</m:oMath>
                  </a14:m>
                  <a:endPara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7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592" y="4349750"/>
                  <a:ext cx="3116494" cy="207749"/>
                </a:xfrm>
                <a:prstGeom prst="rect">
                  <a:avLst/>
                </a:prstGeom>
                <a:blipFill>
                  <a:blip r:embed="rId2"/>
                  <a:stretch>
                    <a:fillRect l="-3327" t="-29412" r="-587" b="-5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Freeform 28"/>
            <p:cNvSpPr/>
            <p:nvPr/>
          </p:nvSpPr>
          <p:spPr>
            <a:xfrm>
              <a:off x="653256" y="478551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17463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6592" y="4730750"/>
              <a:ext cx="331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两者叠加 → 凸问题：局部最优即全局最优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5143500"/>
              <a:ext cx="62484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2104" y="523875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反例｜目标非凸时会怎样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104" y="5454650"/>
              <a:ext cx="32887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多用户干扰下 SINR 目标非凸，KKT 只是必要条件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解可能是局部最优 → 需要 SCA 迭代近似</a:t>
              </a:r>
            </a:p>
          </p:txBody>
        </p:sp>
      </p:grpSp>
      <p:grpSp>
        <p:nvGrpSpPr>
          <p:cNvPr id="49" name="convexity-sketch"/>
          <p:cNvGrpSpPr/>
          <p:nvPr/>
        </p:nvGrpSpPr>
        <p:grpSpPr>
          <a:xfrm>
            <a:off x="7315200" y="3505200"/>
            <a:ext cx="4267200" cy="2400300"/>
            <a:chOff x="7315200" y="3505200"/>
            <a:chExt cx="4267200" cy="2400300"/>
          </a:xfrm>
        </p:grpSpPr>
        <p:sp>
          <p:nvSpPr>
            <p:cNvPr id="34" name="Rectangle 34"/>
            <p:cNvSpPr/>
            <p:nvPr/>
          </p:nvSpPr>
          <p:spPr>
            <a:xfrm>
              <a:off x="7315200" y="3505200"/>
              <a:ext cx="42672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37704" y="36004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凸：唯一谷底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20508" y="3625850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局部 = 全局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543800" y="44767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14288">
              <a:solidFill>
                <a:srgbClr val="5C6672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620000" y="3886200"/>
              <a:ext cx="3619500" cy="762000"/>
            </a:xfrm>
            <a:custGeom>
              <a:avLst/>
              <a:gdLst/>
              <a:ahLst/>
              <a:cxnLst/>
              <a:rect l="l" t="t" r="r" b="b"/>
              <a:pathLst>
                <a:path w="3619500" h="762000">
                  <a:moveTo>
                    <a:pt x="0" y="0"/>
                  </a:moveTo>
                  <a:cubicBezTo>
                    <a:pt x="1206500" y="762000"/>
                    <a:pt x="2413000" y="762000"/>
                    <a:pt x="3619500" y="0"/>
                  </a:cubicBez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9382125" y="44100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315200" y="4724400"/>
              <a:ext cx="4267200" cy="1181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37704" y="48196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非凸：多个谷底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00360" y="48450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起点决定结果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7543800" y="57531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14288">
              <a:solidFill>
                <a:srgbClr val="5C6672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620000" y="5073650"/>
              <a:ext cx="3524250" cy="596900"/>
            </a:xfrm>
            <a:custGeom>
              <a:avLst/>
              <a:gdLst/>
              <a:ahLst/>
              <a:cxnLst/>
              <a:rect l="l" t="t" r="r" b="b"/>
              <a:pathLst>
                <a:path w="3524250" h="596900">
                  <a:moveTo>
                    <a:pt x="0" y="184150"/>
                  </a:moveTo>
                  <a:cubicBezTo>
                    <a:pt x="101600" y="463550"/>
                    <a:pt x="209550" y="590550"/>
                    <a:pt x="323850" y="565150"/>
                  </a:cubicBezTo>
                  <a:cubicBezTo>
                    <a:pt x="438150" y="539750"/>
                    <a:pt x="539750" y="438150"/>
                    <a:pt x="628650" y="260350"/>
                  </a:cubicBezTo>
                  <a:cubicBezTo>
                    <a:pt x="717550" y="69850"/>
                    <a:pt x="812800" y="38100"/>
                    <a:pt x="914400" y="165100"/>
                  </a:cubicBezTo>
                  <a:cubicBezTo>
                    <a:pt x="1028700" y="457200"/>
                    <a:pt x="1143000" y="596900"/>
                    <a:pt x="1257300" y="584200"/>
                  </a:cubicBezTo>
                  <a:cubicBezTo>
                    <a:pt x="1371600" y="571500"/>
                    <a:pt x="1479550" y="457200"/>
                    <a:pt x="1581150" y="241300"/>
                  </a:cubicBezTo>
                  <a:cubicBezTo>
                    <a:pt x="1682750" y="25400"/>
                    <a:pt x="1784350" y="12700"/>
                    <a:pt x="1885950" y="203200"/>
                  </a:cubicBezTo>
                  <a:cubicBezTo>
                    <a:pt x="1987550" y="457200"/>
                    <a:pt x="2095500" y="577850"/>
                    <a:pt x="2209800" y="565150"/>
                  </a:cubicBezTo>
                  <a:cubicBezTo>
                    <a:pt x="2324100" y="552450"/>
                    <a:pt x="2432050" y="438150"/>
                    <a:pt x="2533650" y="222250"/>
                  </a:cubicBezTo>
                  <a:cubicBezTo>
                    <a:pt x="2635250" y="6350"/>
                    <a:pt x="2736850" y="0"/>
                    <a:pt x="2838450" y="203200"/>
                  </a:cubicBezTo>
                  <a:cubicBezTo>
                    <a:pt x="2940050" y="469900"/>
                    <a:pt x="3048000" y="584200"/>
                    <a:pt x="3162300" y="546100"/>
                  </a:cubicBezTo>
                  <a:cubicBezTo>
                    <a:pt x="3276600" y="508000"/>
                    <a:pt x="3397250" y="412750"/>
                    <a:pt x="3524250" y="260350"/>
                  </a:cubicBezTo>
                </a:path>
              </a:pathLst>
            </a:custGeom>
            <a:noFill/>
            <a:ln w="23812">
              <a:solidFill>
                <a:schemeClr val="accent3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7905750" y="56007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8839200" y="56197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9791700" y="56007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0744200" y="55816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5" name="takeaway-note"/>
          <p:cNvGrpSpPr/>
          <p:nvPr/>
        </p:nvGrpSpPr>
        <p:grpSpPr>
          <a:xfrm>
            <a:off x="640556" y="6088856"/>
            <a:ext cx="5782952" cy="296577"/>
            <a:chOff x="640556" y="6088856"/>
            <a:chExt cx="5782952" cy="296577"/>
          </a:xfrm>
        </p:grpSpPr>
        <p:grpSp>
          <p:nvGrpSpPr>
            <p:cNvPr id="53" name="Group 53"/>
            <p:cNvGrpSpPr/>
            <p:nvPr/>
          </p:nvGrpSpPr>
          <p:grpSpPr>
            <a:xfrm>
              <a:off x="640556" y="6088856"/>
              <a:ext cx="185737" cy="185737"/>
              <a:chOff x="640556" y="6088856"/>
              <a:chExt cx="185737" cy="185737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40556" y="6088856"/>
                <a:ext cx="185737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2868">
                    <a:moveTo>
                      <a:pt x="0" y="92868"/>
                    </a:moveTo>
                    <a:lnTo>
                      <a:pt x="10319" y="92868"/>
                    </a:lnTo>
                    <a:moveTo>
                      <a:pt x="92868" y="0"/>
                    </a:moveTo>
                    <a:lnTo>
                      <a:pt x="92868" y="10319"/>
                    </a:lnTo>
                    <a:moveTo>
                      <a:pt x="175418" y="92868"/>
                    </a:moveTo>
                    <a:lnTo>
                      <a:pt x="185737" y="92868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8" y="26829"/>
                    </a:moveTo>
                    <a:lnTo>
                      <a:pt x="151685" y="34052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7456" y="6130131"/>
                <a:ext cx="11193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7" h="144462">
                    <a:moveTo>
                      <a:pt x="25012" y="92868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7" y="56346"/>
                      <a:pt x="104691" y="79544"/>
                      <a:pt x="86925" y="92868"/>
                    </a:cubicBezTo>
                    <a:cubicBezTo>
                      <a:pt x="78754" y="100957"/>
                      <a:pt x="74922" y="112452"/>
                      <a:pt x="76606" y="123825"/>
                    </a:cubicBezTo>
                    <a:cubicBezTo>
                      <a:pt x="76606" y="135222"/>
                      <a:pt x="67366" y="144462"/>
                      <a:pt x="55969" y="144462"/>
                    </a:cubicBezTo>
                    <a:cubicBezTo>
                      <a:pt x="44571" y="144462"/>
                      <a:pt x="35331" y="135222"/>
                      <a:pt x="35331" y="123825"/>
                    </a:cubicBezTo>
                    <a:cubicBezTo>
                      <a:pt x="37015" y="112452"/>
                      <a:pt x="33183" y="100957"/>
                      <a:pt x="25012" y="92868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09692" y="6233318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983742" y="6121400"/>
              <a:ext cx="5439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凸性的回报：不必穷举分配，只需解 KKT —— 下一页给出闭式注水解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604266" y="520700"/>
            <a:ext cx="10978134" cy="288925"/>
            <a:chOff x="604266" y="520700"/>
            <a:chExt cx="10978134" cy="28892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20700"/>
              <a:ext cx="994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P11 · 注水算法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94360" y="1041400"/>
            <a:ext cx="7390790" cy="961644"/>
            <a:chOff x="594360" y="1041400"/>
            <a:chExt cx="7390790" cy="961644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041400"/>
              <a:ext cx="47448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注水闭式解：KKT 给出答案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1651000"/>
              <a:ext cx="73846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内点时隙边际速率相等（水面齐平）—— 好信道多分功率，深衰落断电</a:t>
              </a:r>
            </a:p>
          </p:txBody>
        </p:sp>
      </p:grpSp>
      <p:grpSp>
        <p:nvGrpSpPr>
          <p:cNvPr id="11" name="formula-panel"/>
          <p:cNvGrpSpPr/>
          <p:nvPr/>
        </p:nvGrpSpPr>
        <p:grpSpPr>
          <a:xfrm>
            <a:off x="609600" y="2209800"/>
            <a:ext cx="10972800" cy="1104900"/>
            <a:chOff x="609600" y="2209800"/>
            <a:chExt cx="10972800" cy="1104900"/>
          </a:xfrm>
        </p:grpSpPr>
        <p:sp>
          <p:nvSpPr>
            <p:cNvPr id="8" name="Rectangle 8"/>
            <p:cNvSpPr/>
            <p:nvPr/>
          </p:nvSpPr>
          <p:spPr>
            <a:xfrm>
              <a:off x="609600" y="2209800"/>
              <a:ext cx="10972800" cy="110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p07-waterfilling-formula"/>
                <p:cNvSpPr txBox="1">
                  <a:spLocks noGrp="1"/>
                </p:cNvSpPr>
                <p:nvPr/>
              </p:nvSpPr>
              <p:spPr>
                <a:xfrm>
                  <a:off x="1371600" y="2381250"/>
                  <a:ext cx="9448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normAutofit fontScale="77500" lnSpcReduction="20000"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sSubSupPr>
                            <m:ctrlPr>
                              <a:rPr lang="zh-CN" sz="210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SupPr>
                          <m:e>
                            <m:r>
                              <a:rPr lang="zh-CN" sz="210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zh-CN" sz="210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zh-CN" sz="210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∗</m:t>
                            </m:r>
                          </m:sup>
                        </m:sSubSup>
                        <m:r>
                          <a:rPr lang="zh-CN" sz="2100" dirty="0">
                            <a:solidFill>
                              <a:srgbClr val="1A3A5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sz="2100" dirty="0">
                            <a:solidFill>
                              <a:srgbClr val="1A3A5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clip</m:t>
                        </m:r>
                        <m:d>
                          <m:dPr>
                            <m:ctrlPr>
                              <a:rPr lang="zh-CN" sz="210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10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𝜇</m:t>
                            </m:r>
                            <m:r>
                              <a:rPr lang="zh-CN" sz="210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sz="2100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2100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𝑁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sz="2100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sz="2100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zh-CN" sz="2100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zh-CN" sz="210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 0, </m:t>
                            </m:r>
                            <m:sSub>
                              <m:sSubPr>
                                <m:ctrlPr>
                                  <a:rPr lang="zh-CN" sz="2100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zh-CN" sz="2100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𝑝</m:t>
                                </m:r>
                              </m:e>
                              <m:sub>
                                <m:func>
                                  <m:funcPr>
                                    <m:ctrlPr>
                                      <a:rPr lang="zh-CN" sz="2100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2100" dirty="0">
                                        <a:solidFill>
                                          <a:srgbClr val="1A3A5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fName>
                                  <m:e/>
                                </m:func>
                              </m:sub>
                            </m:sSub>
                          </m:e>
                        </m:d>
                        <m:r>
                          <a:rPr lang="zh-CN" sz="2100" dirty="0">
                            <a:solidFill>
                              <a:srgbClr val="1A3A5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,  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zh-CN" sz="210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210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𝑡</m:t>
                            </m:r>
                            <m:r>
                              <a:rPr lang="zh-CN" sz="210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zh-CN" sz="210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𝑇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zh-CN" sz="2100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zh-CN" sz="2100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zh-CN" sz="2100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zh-CN" sz="2100" dirty="0">
                                    <a:solidFill>
                                      <a:srgbClr val="1A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210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  <m:r>
                              <a:rPr lang="zh-CN" sz="2100" dirty="0">
                                <a:solidFill>
                                  <a:srgbClr val="1A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𝑡</m:t>
                            </m:r>
                          </m:e>
                        </m:nary>
                        <m:r>
                          <a:rPr lang="zh-CN" sz="2100" dirty="0">
                            <a:solidFill>
                              <a:srgbClr val="1A3A5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2100" dirty="0">
                            <a:solidFill>
                              <a:srgbClr val="1A3A5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𝐸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9" name="p07-waterfilling-formula"/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1600" y="2381250"/>
                  <a:ext cx="9448800" cy="762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derivation-steps"/>
          <p:cNvGrpSpPr/>
          <p:nvPr/>
        </p:nvGrpSpPr>
        <p:grpSpPr>
          <a:xfrm>
            <a:off x="602742" y="3860800"/>
            <a:ext cx="5423840" cy="1973049"/>
            <a:chOff x="602742" y="3860800"/>
            <a:chExt cx="5423840" cy="1973049"/>
          </a:xfrm>
        </p:grpSpPr>
        <p:sp>
          <p:nvSpPr>
            <p:cNvPr id="12" name="TextBox 12"/>
            <p:cNvSpPr txBox="1"/>
            <p:nvPr/>
          </p:nvSpPr>
          <p:spPr>
            <a:xfrm>
              <a:off x="602742" y="387350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3930" y="3860800"/>
              <a:ext cx="855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KKT 条件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4692" y="4178300"/>
              <a:ext cx="5061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凸问题 KKT 充要：内点时隙边际速率全部相等 ——「水面齐平」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459740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63930" y="45847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闭式解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7"/>
                <p:cNvSpPr txBox="1"/>
                <p:nvPr/>
              </p:nvSpPr>
              <p:spPr>
                <a:xfrm>
                  <a:off x="964692" y="4902200"/>
                  <a:ext cx="4863383" cy="2077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p_t* = clip(μ − N/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</m:t>
                          </m:r>
                        </m:e>
                        <m:sub>
                          <m: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, 0, p_max)：g_t 越大分得越多，深衰落断电</a:t>
                  </a:r>
                </a:p>
              </p:txBody>
            </p:sp>
          </mc:Choice>
          <mc:Fallback xmlns="">
            <p:sp>
              <p:nvSpPr>
                <p:cNvPr id="17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692" y="4902200"/>
                  <a:ext cx="4863383" cy="207749"/>
                </a:xfrm>
                <a:prstGeom prst="rect">
                  <a:avLst/>
                </a:prstGeom>
                <a:blipFill>
                  <a:blip r:embed="rId3"/>
                  <a:stretch>
                    <a:fillRect l="-2130" t="-29412" r="-1128" b="-5294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8"/>
            <p:cNvSpPr txBox="1"/>
            <p:nvPr/>
          </p:nvSpPr>
          <p:spPr>
            <a:xfrm>
              <a:off x="602742" y="5321300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3930" y="5308600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求水位 μ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20"/>
                <p:cNvSpPr txBox="1"/>
                <p:nvPr/>
              </p:nvSpPr>
              <p:spPr>
                <a:xfrm>
                  <a:off x="964692" y="5626100"/>
                  <a:ext cx="4951099" cy="2077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预算方程 </a:t>
                  </a:r>
                  <a14:m>
                    <m:oMath xmlns:m="http://schemas.openxmlformats.org/officeDocument/2006/math">
                      <m:r>
                        <a:rPr lang="zh-CN" altLang="en-US" sz="135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𝛴</m:t>
                      </m:r>
                      <m:sSub>
                        <m:sSubPr>
                          <m:ctrlP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135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zh-CN" altLang="en-US" sz="1350" i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∗</m:t>
                      </m:r>
                      <m:r>
                        <a:rPr lang="en-US" altLang="zh-CN" sz="1350" i="0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zh-CN" altLang="en-US" sz="135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</m:oMath>
                  </a14:m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关于 μ 单调 —— 对偶维度 = 1，二分求根即可</a:t>
                  </a:r>
                </a:p>
              </p:txBody>
            </p:sp>
          </mc:Choice>
          <mc:Fallback xmlns="">
            <p:sp>
              <p:nvSpPr>
                <p:cNvPr id="20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692" y="5626100"/>
                  <a:ext cx="4951099" cy="207749"/>
                </a:xfrm>
                <a:prstGeom prst="rect">
                  <a:avLst/>
                </a:prstGeom>
                <a:blipFill>
                  <a:blip r:embed="rId4"/>
                  <a:stretch>
                    <a:fillRect l="-2094" t="-29412" r="-1232" b="-5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water-schematic"/>
          <p:cNvGrpSpPr/>
          <p:nvPr/>
        </p:nvGrpSpPr>
        <p:grpSpPr>
          <a:xfrm>
            <a:off x="6257902" y="3456416"/>
            <a:ext cx="5272903" cy="3023041"/>
            <a:chOff x="7467600" y="3619500"/>
            <a:chExt cx="4114800" cy="2286000"/>
          </a:xfrm>
        </p:grpSpPr>
        <p:sp>
          <p:nvSpPr>
            <p:cNvPr id="22" name="Rectangle 22"/>
            <p:cNvSpPr/>
            <p:nvPr/>
          </p:nvSpPr>
          <p:spPr>
            <a:xfrm>
              <a:off x="7467600" y="3619500"/>
              <a:ext cx="4114800" cy="228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13904" y="3695700"/>
              <a:ext cx="24741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注水示意 · 120 km/h 实测 40 ms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00950" y="3886200"/>
              <a:ext cx="3733800" cy="2000250"/>
            </a:xfrm>
            <a:prstGeom prst="rect">
              <a:avLst/>
            </a:prstGeom>
          </p:spPr>
        </p:pic>
      </p:grpSp>
      <p:grpSp>
        <p:nvGrpSpPr>
          <p:cNvPr id="28" name="crosscheck-note"/>
          <p:cNvGrpSpPr/>
          <p:nvPr/>
        </p:nvGrpSpPr>
        <p:grpSpPr>
          <a:xfrm>
            <a:off x="661194" y="6064250"/>
            <a:ext cx="5079600" cy="264033"/>
            <a:chOff x="661194" y="6064250"/>
            <a:chExt cx="5079600" cy="264033"/>
          </a:xfrm>
        </p:grpSpPr>
        <p:sp>
          <p:nvSpPr>
            <p:cNvPr id="26" name="Freeform 26"/>
            <p:cNvSpPr/>
            <p:nvPr/>
          </p:nvSpPr>
          <p:spPr>
            <a:xfrm>
              <a:off x="661194" y="6111081"/>
              <a:ext cx="154781" cy="103187"/>
            </a:xfrm>
            <a:custGeom>
              <a:avLst/>
              <a:gdLst/>
              <a:ahLst/>
              <a:cxnLst/>
              <a:rect l="l" t="t" r="r" b="b"/>
              <a:pathLst>
                <a:path w="154781" h="103187">
                  <a:moveTo>
                    <a:pt x="0" y="51594"/>
                  </a:moveTo>
                  <a:lnTo>
                    <a:pt x="51594" y="103187"/>
                  </a:lnTo>
                  <a:lnTo>
                    <a:pt x="154781" y="0"/>
                  </a:lnTo>
                </a:path>
              </a:pathLst>
            </a:custGeom>
            <a:noFill/>
            <a:ln w="20637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3742" y="6064250"/>
              <a:ext cx="4757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cvxpy 独立求解对拍验证：相对差 &lt; 1e-4 —— 闭式实现正确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604266" y="520700"/>
            <a:ext cx="10978134" cy="288925"/>
            <a:chOff x="604266" y="520700"/>
            <a:chExt cx="10978134" cy="28892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20700"/>
              <a:ext cx="76302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· 主结果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94360" y="1041400"/>
            <a:ext cx="8784107" cy="961644"/>
            <a:chOff x="594360" y="1041400"/>
            <a:chExt cx="8784107" cy="961644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041400"/>
              <a:ext cx="825105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主结果：注水增益 +10%~21%，速度越高越大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1651000"/>
              <a:ext cx="87780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增益来自路损 + 阴影的大动态范围；高速下小尺度衰落更剧烈，可搬移能量差更大</a:t>
              </a:r>
            </a:p>
          </p:txBody>
        </p:sp>
      </p:grpSp>
      <p:grpSp>
        <p:nvGrpSpPr>
          <p:cNvPr id="12" name="main-results-chart"/>
          <p:cNvGrpSpPr/>
          <p:nvPr/>
        </p:nvGrpSpPr>
        <p:grpSpPr>
          <a:xfrm>
            <a:off x="-981075" y="2197510"/>
            <a:ext cx="10191750" cy="3810000"/>
            <a:chOff x="-981075" y="2197510"/>
            <a:chExt cx="10191750" cy="3810000"/>
          </a:xfrm>
        </p:grpSpPr>
        <p:graphicFrame>
          <p:nvGraphicFramePr>
            <p:cNvPr id="8" name="main-results-chart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4040307385"/>
                </p:ext>
              </p:extLst>
            </p:nvPr>
          </p:nvGraphicFramePr>
          <p:xfrm>
            <a:off x="219077" y="2197510"/>
            <a:ext cx="6477000" cy="381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9" name="Chart Note 9"/>
            <p:cNvSpPr txBox="1"/>
            <p:nvPr/>
          </p:nvSpPr>
          <p:spPr>
            <a:xfrm>
              <a:off x="-981075" y="2689860"/>
              <a:ext cx="6477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CN" sz="1200">
                  <a:solidFill>
                    <a:srgbClr val="2B2F36"/>
                  </a:solidFill>
                  <a:latin typeface="Arial"/>
                  <a:ea typeface="Microsoft YaHei"/>
                  <a:cs typeface="Arial"/>
                </a:rPr>
                <a:t>+9.9%</a:t>
              </a:r>
            </a:p>
          </p:txBody>
        </p:sp>
        <p:sp>
          <p:nvSpPr>
            <p:cNvPr id="10" name="Chart Note 10"/>
            <p:cNvSpPr txBox="1"/>
            <p:nvPr/>
          </p:nvSpPr>
          <p:spPr>
            <a:xfrm>
              <a:off x="876300" y="2823210"/>
              <a:ext cx="6477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CN" sz="1200">
                  <a:solidFill>
                    <a:srgbClr val="2B2F36"/>
                  </a:solidFill>
                  <a:latin typeface="Arial"/>
                  <a:ea typeface="Microsoft YaHei"/>
                  <a:cs typeface="Arial"/>
                </a:rPr>
                <a:t>+11.5%</a:t>
              </a:r>
            </a:p>
          </p:txBody>
        </p:sp>
        <p:sp>
          <p:nvSpPr>
            <p:cNvPr id="11" name="Chart Note 11"/>
            <p:cNvSpPr txBox="1"/>
            <p:nvPr/>
          </p:nvSpPr>
          <p:spPr>
            <a:xfrm>
              <a:off x="2733675" y="3432810"/>
              <a:ext cx="6477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CN" sz="1200">
                  <a:solidFill>
                    <a:srgbClr val="2B2F36"/>
                  </a:solidFill>
                  <a:latin typeface="Arial"/>
                  <a:ea typeface="Microsoft YaHei"/>
                  <a:cs typeface="Arial"/>
                </a:rPr>
                <a:t>+21.0%</a:t>
              </a:r>
            </a:p>
          </p:txBody>
        </p:sp>
      </p:grpSp>
      <p:grpSp>
        <p:nvGrpSpPr>
          <p:cNvPr id="17" name="cumulative-chart"/>
          <p:cNvGrpSpPr/>
          <p:nvPr/>
        </p:nvGrpSpPr>
        <p:grpSpPr>
          <a:xfrm>
            <a:off x="6960692" y="2113145"/>
            <a:ext cx="4355007" cy="3509781"/>
            <a:chOff x="7612380" y="2247900"/>
            <a:chExt cx="3909414" cy="3221609"/>
          </a:xfrm>
        </p:grpSpPr>
        <p:sp>
          <p:nvSpPr>
            <p:cNvPr id="13" name="TextBox 13"/>
            <p:cNvSpPr txBox="1"/>
            <p:nvPr/>
          </p:nvSpPr>
          <p:spPr>
            <a:xfrm>
              <a:off x="7612380" y="2247900"/>
              <a:ext cx="26125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+9.9% → +11.5% → +21.0%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14666" y="2520950"/>
              <a:ext cx="3523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增益在 1 s episode 内逐步累积（100 条测试轨迹均值）</a:t>
              </a:r>
            </a:p>
          </p:txBody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3456" y="2743200"/>
              <a:ext cx="3898338" cy="2466975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7614666" y="5264150"/>
              <a:ext cx="28800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线型：实线 30 / 虚线 120 / 点划线 350 km/h</a:t>
              </a:r>
            </a:p>
          </p:txBody>
        </p:sp>
      </p:grpSp>
      <p:grpSp>
        <p:nvGrpSpPr>
          <p:cNvPr id="24" name="key-observation"/>
          <p:cNvGrpSpPr/>
          <p:nvPr/>
        </p:nvGrpSpPr>
        <p:grpSpPr>
          <a:xfrm>
            <a:off x="7596718" y="5657851"/>
            <a:ext cx="2602992" cy="755396"/>
            <a:chOff x="7613904" y="5549900"/>
            <a:chExt cx="2602992" cy="755396"/>
          </a:xfrm>
        </p:grpSpPr>
        <p:grpSp>
          <p:nvGrpSpPr>
            <p:cNvPr id="21" name="Group 21"/>
            <p:cNvGrpSpPr/>
            <p:nvPr/>
          </p:nvGrpSpPr>
          <p:grpSpPr>
            <a:xfrm>
              <a:off x="7653338" y="5557838"/>
              <a:ext cx="200026" cy="200025"/>
              <a:chOff x="7653338" y="5557838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653338" y="55578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693076" y="56022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27792" y="57134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013192" y="5549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关键观察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13904" y="5842000"/>
              <a:ext cx="26029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速度越高增益越大：小尺度衰落更剧烈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深衰落时隙 24.4% → 26.5% → 39.8%</a:t>
              </a:r>
            </a:p>
          </p:txBody>
        </p:sp>
      </p:grpSp>
      <p:grpSp>
        <p:nvGrpSpPr>
          <p:cNvPr id="26" name="chart-source"/>
          <p:cNvGrpSpPr/>
          <p:nvPr/>
        </p:nvGrpSpPr>
        <p:grpSpPr>
          <a:xfrm>
            <a:off x="723711" y="6315780"/>
            <a:ext cx="3673793" cy="205359"/>
            <a:chOff x="723711" y="6315780"/>
            <a:chExt cx="3673793" cy="205359"/>
          </a:xfrm>
        </p:grpSpPr>
        <p:sp>
          <p:nvSpPr>
            <p:cNvPr id="25" name="TextBox 25"/>
            <p:cNvSpPr txBox="1"/>
            <p:nvPr/>
          </p:nvSpPr>
          <p:spPr>
            <a:xfrm>
              <a:off x="723711" y="6315780"/>
              <a:ext cx="3673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数据：README §4.3 · 100 条测试轨迹均值 · 纵轴自 0 起</a:t>
              </a: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84632C7-9C0D-CED1-5D69-10241AE3650D}"/>
              </a:ext>
            </a:extLst>
          </p:cNvPr>
          <p:cNvSpPr txBox="1"/>
          <p:nvPr/>
        </p:nvSpPr>
        <p:spPr>
          <a:xfrm>
            <a:off x="723711" y="5873234"/>
            <a:ext cx="3871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b="1" dirty="0">
                <a:solidFill>
                  <a:schemeClr val="accent1"/>
                </a:solidFill>
              </a:rPr>
              <a:t>cvxpy </a:t>
            </a:r>
            <a:r>
              <a:rPr lang="zh-CN" altLang="en-US" b="1" dirty="0">
                <a:solidFill>
                  <a:schemeClr val="accent1"/>
                </a:solidFill>
              </a:rPr>
              <a:t>与二分法 </a:t>
            </a:r>
            <a:r>
              <a:rPr lang="zh-CN" altLang="zh-CN" b="1" dirty="0">
                <a:solidFill>
                  <a:schemeClr val="accent1"/>
                </a:solidFill>
              </a:rPr>
              <a:t>对拍</a:t>
            </a:r>
            <a:r>
              <a:rPr lang="zh-CN" altLang="en-US" b="1" dirty="0">
                <a:solidFill>
                  <a:schemeClr val="accent1"/>
                </a:solidFill>
              </a:rPr>
              <a:t>，相对差</a:t>
            </a:r>
            <a:r>
              <a:rPr lang="en-US" altLang="zh-CN" b="1" dirty="0">
                <a:solidFill>
                  <a:schemeClr val="accent1"/>
                </a:solidFill>
              </a:rPr>
              <a:t>&lt;1e-4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596900"/>
            <a:ext cx="801501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6672"/>
                </a:solidFill>
                <a:latin typeface="Arial"/>
                <a:ea typeface="Microsoft YaHei"/>
                <a:cs typeface="Arial"/>
              </a:rPr>
              <a:t>P1</a:t>
            </a:r>
            <a:r>
              <a:rPr lang="en-US" altLang="zh-CN" sz="1050" dirty="0">
                <a:solidFill>
                  <a:srgbClr val="5C6672"/>
                </a:solidFill>
                <a:latin typeface="Arial"/>
                <a:ea typeface="Microsoft YaHei"/>
                <a:cs typeface="Arial"/>
              </a:rPr>
              <a:t>3</a:t>
            </a:r>
            <a:r>
              <a:rPr lang="zh-CN" sz="1050" dirty="0">
                <a:solidFill>
                  <a:srgbClr val="5C6672"/>
                </a:solidFill>
                <a:latin typeface="Arial"/>
                <a:ea typeface="Microsoft YaHei"/>
                <a:cs typeface="Arial"/>
              </a:rPr>
              <a:t> · </a:t>
            </a:r>
            <a:r>
              <a:rPr lang="en-US" altLang="zh-CN" sz="1050" dirty="0">
                <a:solidFill>
                  <a:srgbClr val="5C6672"/>
                </a:solidFill>
                <a:latin typeface="Arial"/>
                <a:ea typeface="Microsoft YaHei"/>
                <a:cs typeface="Arial"/>
              </a:rPr>
              <a:t>RL</a:t>
            </a:r>
            <a:r>
              <a:rPr lang="zh-CN" altLang="en-US" sz="1050" dirty="0">
                <a:solidFill>
                  <a:srgbClr val="5C6672"/>
                </a:solidFill>
                <a:latin typeface="Arial"/>
                <a:ea typeface="Microsoft YaHei"/>
                <a:cs typeface="Arial"/>
              </a:rPr>
              <a:t>引入</a:t>
            </a:r>
            <a:endParaRPr lang="zh-CN" sz="1050" dirty="0">
              <a:solidFill>
                <a:srgbClr val="5C6672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3" name="Line 3"/>
          <p:cNvSpPr/>
          <p:nvPr/>
        </p:nvSpPr>
        <p:spPr>
          <a:xfrm>
            <a:off x="609600" y="800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9DEE4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594360" y="1041400"/>
            <a:ext cx="4682372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>
                <a:solidFill>
                  <a:srgbClr val="1A3A5C"/>
                </a:solidFill>
                <a:latin typeface="Arial"/>
                <a:ea typeface="Microsoft YaHei"/>
                <a:cs typeface="Arial"/>
              </a:rPr>
              <a:t>Why Reinforce-Learning?</a:t>
            </a:r>
            <a:endParaRPr lang="zh-CN" sz="3000" b="1" dirty="0">
              <a:solidFill>
                <a:srgbClr val="1A3A5C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25" name="derivation-chain"/>
          <p:cNvGrpSpPr/>
          <p:nvPr/>
        </p:nvGrpSpPr>
        <p:grpSpPr>
          <a:xfrm>
            <a:off x="600075" y="1672876"/>
            <a:ext cx="10972800" cy="647700"/>
            <a:chOff x="609600" y="2133600"/>
            <a:chExt cx="10972800" cy="647700"/>
          </a:xfrm>
        </p:grpSpPr>
        <p:sp>
          <p:nvSpPr>
            <p:cNvPr id="6" name="Rectangle 6"/>
            <p:cNvSpPr/>
            <p:nvPr/>
          </p:nvSpPr>
          <p:spPr>
            <a:xfrm>
              <a:off x="609600" y="2133600"/>
              <a:ext cx="1905000" cy="6477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32916" y="22479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高速移动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50170" y="2501900"/>
              <a:ext cx="8238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C6672"/>
                  </a:solidFill>
                  <a:latin typeface="Arial"/>
                  <a:ea typeface="Arial"/>
                  <a:cs typeface="Arial"/>
                </a:rPr>
                <a:t>v = 350 km/h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552700" y="2457450"/>
              <a:ext cx="266700" cy="1"/>
            </a:xfrm>
            <a:prstGeom prst="line">
              <a:avLst/>
            </a:prstGeom>
            <a:noFill/>
            <a:ln w="14288">
              <a:solidFill>
                <a:srgbClr val="5C6672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876550" y="2133600"/>
              <a:ext cx="1905000" cy="6477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19094" y="22479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多普勒增大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97516" y="2501900"/>
              <a:ext cx="863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C6672"/>
                  </a:solidFill>
                  <a:latin typeface="Arial"/>
                  <a:ea typeface="Arial"/>
                  <a:cs typeface="Arial"/>
                </a:rPr>
                <a:t>f_D = 649 Hz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819650" y="2457450"/>
              <a:ext cx="266700" cy="1"/>
            </a:xfrm>
            <a:prstGeom prst="line">
              <a:avLst/>
            </a:prstGeom>
            <a:noFill/>
            <a:ln w="14288">
              <a:solidFill>
                <a:srgbClr val="5C6672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143500" y="2133600"/>
              <a:ext cx="1905000" cy="6477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00839" y="2247900"/>
              <a:ext cx="9903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CSI 快速过时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4641" y="2501900"/>
              <a:ext cx="1102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C6672"/>
                  </a:solidFill>
                  <a:latin typeface="Arial"/>
                  <a:ea typeface="Microsoft YaHei"/>
                  <a:cs typeface="Arial"/>
                </a:rPr>
                <a:t>lag-1 相关仅 0.15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086600" y="2457450"/>
              <a:ext cx="266700" cy="1"/>
            </a:xfrm>
            <a:prstGeom prst="line">
              <a:avLst/>
            </a:prstGeom>
            <a:noFill/>
            <a:ln w="14288">
              <a:solidFill>
                <a:srgbClr val="5C6672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410450" y="2133600"/>
              <a:ext cx="1905000" cy="6477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91450" y="22479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离线最优不可及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59009" y="2501900"/>
              <a:ext cx="10078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C6672"/>
                  </a:solidFill>
                  <a:latin typeface="Arial"/>
                  <a:ea typeface="Microsoft YaHei"/>
                  <a:cs typeface="Arial"/>
                </a:rPr>
                <a:t>注水需全程 CSI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353550" y="2457450"/>
              <a:ext cx="266700" cy="1"/>
            </a:xfrm>
            <a:prstGeom prst="line">
              <a:avLst/>
            </a:prstGeom>
            <a:noFill/>
            <a:ln w="14288">
              <a:solidFill>
                <a:srgbClr val="5C6672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677400" y="2133600"/>
              <a:ext cx="1905000" cy="647700"/>
            </a:xfrm>
            <a:prstGeom prst="rect">
              <a:avLst/>
            </a:prstGeom>
            <a:solidFill>
              <a:srgbClr val="DCE9F7"/>
            </a:solidFill>
            <a:ln w="14288">
              <a:solidFill>
                <a:srgbClr val="1565C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39172" y="22479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在线序贯决策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20118" y="2501900"/>
              <a:ext cx="819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每 1 ms 拍板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09600" y="2577841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A5C"/>
                </a:solidFill>
                <a:latin typeface="Arial"/>
                <a:ea typeface="Microsoft YaHei"/>
                <a:cs typeface="Arial"/>
              </a:rPr>
              <a:t>四种决策机制：谁能接住这个问题？</a:t>
            </a:r>
          </a:p>
        </p:txBody>
      </p:sp>
      <p:grpSp>
        <p:nvGrpSpPr>
          <p:cNvPr id="35" name="method-rule"/>
          <p:cNvGrpSpPr/>
          <p:nvPr/>
        </p:nvGrpSpPr>
        <p:grpSpPr>
          <a:xfrm>
            <a:off x="600075" y="2958090"/>
            <a:ext cx="2590800" cy="2057400"/>
            <a:chOff x="609600" y="3505200"/>
            <a:chExt cx="2590800" cy="2057400"/>
          </a:xfrm>
        </p:grpSpPr>
        <p:sp>
          <p:nvSpPr>
            <p:cNvPr id="27" name="Rectangle 27"/>
            <p:cNvSpPr/>
            <p:nvPr/>
          </p:nvSpPr>
          <p:spPr>
            <a:xfrm>
              <a:off x="609600" y="3505200"/>
              <a:ext cx="2590800" cy="20574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3242" y="36449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查表规则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4766" y="3911600"/>
              <a:ext cx="10004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672"/>
                  </a:solidFill>
                  <a:latin typeface="Arial"/>
                  <a:ea typeface="Microsoft YaHei"/>
                  <a:cs typeface="Arial"/>
                </a:rPr>
                <a:t>1960s 工程经验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00100" y="41910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rgbClr val="D9DEE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766" y="42926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B2F36"/>
                  </a:solidFill>
                  <a:latin typeface="Arial"/>
                  <a:ea typeface="Microsoft YaHei"/>
                  <a:cs typeface="Arial"/>
                </a:rPr>
                <a:t>优：零开销、可解释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66" y="4521200"/>
              <a:ext cx="13220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B2F36"/>
                  </a:solidFill>
                  <a:latin typeface="Arial"/>
                  <a:ea typeface="Microsoft YaHei"/>
                  <a:cs typeface="Arial"/>
                </a:rPr>
                <a:t>　　 易实现、易验证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4766" y="48260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825A"/>
                  </a:solidFill>
                  <a:latin typeface="Arial"/>
                  <a:ea typeface="Microsoft YaHei"/>
                  <a:cs typeface="Arial"/>
                </a:rPr>
                <a:t>但：规则靠人拍板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4766" y="5054600"/>
              <a:ext cx="13220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825A"/>
                  </a:solidFill>
                  <a:latin typeface="Arial"/>
                  <a:ea typeface="Microsoft YaHei"/>
                  <a:cs typeface="Arial"/>
                </a:rPr>
                <a:t>　　 不随场景自适应</a:t>
              </a:r>
            </a:p>
          </p:txBody>
        </p:sp>
      </p:grpSp>
      <p:grpSp>
        <p:nvGrpSpPr>
          <p:cNvPr id="44" name="method-dp"/>
          <p:cNvGrpSpPr/>
          <p:nvPr/>
        </p:nvGrpSpPr>
        <p:grpSpPr>
          <a:xfrm>
            <a:off x="3385934" y="2985579"/>
            <a:ext cx="2590800" cy="2057400"/>
            <a:chOff x="3400425" y="3505200"/>
            <a:chExt cx="2590800" cy="2057400"/>
          </a:xfrm>
        </p:grpSpPr>
        <p:sp>
          <p:nvSpPr>
            <p:cNvPr id="36" name="Rectangle 36"/>
            <p:cNvSpPr/>
            <p:nvPr/>
          </p:nvSpPr>
          <p:spPr>
            <a:xfrm>
              <a:off x="3400425" y="3505200"/>
              <a:ext cx="2590800" cy="20574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584067" y="3644900"/>
              <a:ext cx="1060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动态规划 DP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85591" y="3911600"/>
              <a:ext cx="1130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672"/>
                  </a:solidFill>
                  <a:latin typeface="Arial"/>
                  <a:ea typeface="Microsoft YaHei"/>
                  <a:cs typeface="Arial"/>
                </a:rPr>
                <a:t>Bellman 最优框架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3590925" y="41910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rgbClr val="D9DEE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585591" y="42926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B2F36"/>
                  </a:solidFill>
                  <a:latin typeface="Arial"/>
                  <a:ea typeface="Microsoft YaHei"/>
                  <a:cs typeface="Arial"/>
                </a:rPr>
                <a:t>优：理论最优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85591" y="4521200"/>
              <a:ext cx="8980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B2F36"/>
                  </a:solidFill>
                  <a:latin typeface="Arial"/>
                  <a:ea typeface="Microsoft YaHei"/>
                  <a:cs typeface="Arial"/>
                </a:rPr>
                <a:t>　　 结构优美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85591" y="48260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825A"/>
                  </a:solidFill>
                  <a:latin typeface="Arial"/>
                  <a:ea typeface="Microsoft YaHei"/>
                  <a:cs typeface="Arial"/>
                </a:rPr>
                <a:t>但：维数爆炸算不动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85591" y="5054600"/>
              <a:ext cx="16047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825A"/>
                  </a:solidFill>
                  <a:latin typeface="Arial"/>
                  <a:ea typeface="Microsoft YaHei"/>
                  <a:cs typeface="Arial"/>
                </a:rPr>
                <a:t>　　 还要先写出转移模型</a:t>
              </a:r>
            </a:p>
          </p:txBody>
        </p:sp>
      </p:grpSp>
      <p:grpSp>
        <p:nvGrpSpPr>
          <p:cNvPr id="53" name="method-mpc"/>
          <p:cNvGrpSpPr/>
          <p:nvPr/>
        </p:nvGrpSpPr>
        <p:grpSpPr>
          <a:xfrm>
            <a:off x="6086475" y="2986208"/>
            <a:ext cx="2590800" cy="2057400"/>
            <a:chOff x="6191250" y="3505200"/>
            <a:chExt cx="2590800" cy="2057400"/>
          </a:xfrm>
        </p:grpSpPr>
        <p:sp>
          <p:nvSpPr>
            <p:cNvPr id="45" name="Rectangle 45"/>
            <p:cNvSpPr/>
            <p:nvPr/>
          </p:nvSpPr>
          <p:spPr>
            <a:xfrm>
              <a:off x="6191250" y="3505200"/>
              <a:ext cx="2590800" cy="20574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74892" y="3644900"/>
              <a:ext cx="1220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A5C"/>
                  </a:solidFill>
                  <a:latin typeface="Arial"/>
                  <a:ea typeface="Microsoft YaHei"/>
                  <a:cs typeface="Arial"/>
                </a:rPr>
                <a:t>MPC 滚动优化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76416" y="39116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672"/>
                  </a:solidFill>
                  <a:latin typeface="Arial"/>
                  <a:ea typeface="Microsoft YaHei"/>
                  <a:cs typeface="Arial"/>
                </a:rPr>
                <a:t>显式建模物理过程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381750" y="41910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rgbClr val="D9DEE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76416" y="42926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B2F36"/>
                  </a:solidFill>
                  <a:latin typeface="Arial"/>
                  <a:ea typeface="Microsoft YaHei"/>
                  <a:cs typeface="Arial"/>
                </a:rPr>
                <a:t>优：严谨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76416" y="4521200"/>
              <a:ext cx="13220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B2F36"/>
                  </a:solidFill>
                  <a:latin typeface="Arial"/>
                  <a:ea typeface="Microsoft YaHei"/>
                  <a:cs typeface="Arial"/>
                </a:rPr>
                <a:t>　　 每步决策可解释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76416" y="4826000"/>
              <a:ext cx="1055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825A"/>
                  </a:solidFill>
                  <a:latin typeface="Arial"/>
                  <a:ea typeface="Microsoft YaHei"/>
                  <a:cs typeface="Arial"/>
                </a:rPr>
                <a:t>但：350 km/h 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76416" y="5054600"/>
              <a:ext cx="13220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825A"/>
                  </a:solidFill>
                  <a:latin typeface="Arial"/>
                  <a:ea typeface="Microsoft YaHei"/>
                  <a:cs typeface="Arial"/>
                </a:rPr>
                <a:t>　　 预测本身先失真</a:t>
              </a:r>
            </a:p>
          </p:txBody>
        </p:sp>
      </p:grpSp>
      <p:grpSp>
        <p:nvGrpSpPr>
          <p:cNvPr id="62" name="method-rl"/>
          <p:cNvGrpSpPr/>
          <p:nvPr/>
        </p:nvGrpSpPr>
        <p:grpSpPr>
          <a:xfrm>
            <a:off x="8864478" y="2967786"/>
            <a:ext cx="2590800" cy="2057400"/>
            <a:chOff x="8982075" y="3505200"/>
            <a:chExt cx="2590800" cy="2057400"/>
          </a:xfrm>
        </p:grpSpPr>
        <p:sp>
          <p:nvSpPr>
            <p:cNvPr id="54" name="Rectangle 54"/>
            <p:cNvSpPr/>
            <p:nvPr/>
          </p:nvSpPr>
          <p:spPr>
            <a:xfrm>
              <a:off x="8982075" y="3505200"/>
              <a:ext cx="2590800" cy="20574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65717" y="3644900"/>
              <a:ext cx="1049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强化学习 RL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67241" y="3911600"/>
              <a:ext cx="15497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672"/>
                  </a:solidFill>
                  <a:latin typeface="Arial"/>
                  <a:ea typeface="Microsoft YaHei"/>
                  <a:cs typeface="Arial"/>
                </a:rPr>
                <a:t>免模型 · 数据驱动新思路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9172575" y="41910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rgbClr val="D9DEE4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167241" y="42926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B2F36"/>
                  </a:solidFill>
                  <a:latin typeface="Arial"/>
                  <a:ea typeface="Microsoft YaHei"/>
                  <a:cs typeface="Arial"/>
                </a:rPr>
                <a:t>优：不要转移模型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67241" y="4521200"/>
              <a:ext cx="14634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B2F36"/>
                  </a:solidFill>
                  <a:latin typeface="Arial"/>
                  <a:ea typeface="Microsoft YaHei"/>
                  <a:cs typeface="Arial"/>
                </a:rPr>
                <a:t>　　 从交互直接学策略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67241" y="4826000"/>
              <a:ext cx="1302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天然匹配序贯 + 在线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67241" y="50546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能否逼近上界＝本课题</a:t>
              </a:r>
            </a:p>
          </p:txBody>
        </p:sp>
      </p:grpSp>
      <p:sp>
        <p:nvSpPr>
          <p:cNvPr id="63" name="Rectangle 63"/>
          <p:cNvSpPr/>
          <p:nvPr/>
        </p:nvSpPr>
        <p:spPr>
          <a:xfrm>
            <a:off x="333756" y="5374265"/>
            <a:ext cx="10972800" cy="533400"/>
          </a:xfrm>
          <a:prstGeom prst="rect">
            <a:avLst/>
          </a:prstGeom>
          <a:solidFill>
            <a:srgbClr val="1A3A5C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3528182" y="5515228"/>
            <a:ext cx="4583948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免模型 · 序贯 · 在线——问题特征</a:t>
            </a:r>
            <a:r>
              <a:rPr lang="zh-CN" altLang="en-US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似乎是</a:t>
            </a:r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 RL 主场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382942-46FA-2D88-3BDE-277DFD6E6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3192" y="-196645"/>
            <a:ext cx="12518384" cy="7542263"/>
          </a:xfrm>
          <a:prstGeom prst="rect">
            <a:avLst/>
          </a:prstGeom>
        </p:spPr>
      </p:pic>
      <p:sp>
        <p:nvSpPr>
          <p:cNvPr id="4" name="Rectangle 36">
            <a:extLst>
              <a:ext uri="{FF2B5EF4-FFF2-40B4-BE49-F238E27FC236}">
                <a16:creationId xmlns:a16="http://schemas.microsoft.com/office/drawing/2014/main" id="{08D301E1-959B-B95C-45C1-8A6454221E8C}"/>
              </a:ext>
            </a:extLst>
          </p:cNvPr>
          <p:cNvSpPr/>
          <p:nvPr/>
        </p:nvSpPr>
        <p:spPr>
          <a:xfrm>
            <a:off x="239611" y="822482"/>
            <a:ext cx="10084260" cy="1035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r>
              <a:rPr lang="zh-CN" altLang="en-US" sz="2800" dirty="0">
                <a:solidFill>
                  <a:schemeClr val="tx2"/>
                </a:solidFill>
              </a:rPr>
              <a:t>从最优基准到在线决策：</a:t>
            </a:r>
            <a:r>
              <a:rPr lang="en-US" altLang="zh-CN" sz="2800" dirty="0">
                <a:solidFill>
                  <a:schemeClr val="tx2"/>
                </a:solidFill>
              </a:rPr>
              <a:t>RL</a:t>
            </a:r>
            <a:r>
              <a:rPr lang="zh-CN" altLang="en-US" sz="2800" dirty="0">
                <a:solidFill>
                  <a:schemeClr val="tx2"/>
                </a:solidFill>
              </a:rPr>
              <a:t>的角色</a:t>
            </a:r>
            <a:endParaRPr lang="en-US" altLang="zh-CN" sz="2800" dirty="0">
              <a:solidFill>
                <a:schemeClr val="tx2"/>
              </a:solidFill>
            </a:endParaRPr>
          </a:p>
          <a:p>
            <a:endParaRPr lang="en-US" altLang="zh-CN" sz="1600" dirty="0">
              <a:solidFill>
                <a:schemeClr val="tx2"/>
              </a:solidFill>
            </a:endParaRPr>
          </a:p>
          <a:p>
            <a:r>
              <a:rPr lang="en-US" altLang="zh-CN" sz="1600" dirty="0">
                <a:solidFill>
                  <a:schemeClr val="tx2"/>
                </a:solidFill>
              </a:rPr>
              <a:t> </a:t>
            </a:r>
            <a:r>
              <a:rPr lang="en-US" altLang="zh-CN" sz="1600" dirty="0" err="1">
                <a:solidFill>
                  <a:schemeClr val="tx2"/>
                </a:solidFill>
              </a:rPr>
              <a:t>Pefect</a:t>
            </a:r>
            <a:r>
              <a:rPr lang="en-US" altLang="zh-CN" sz="1600" dirty="0">
                <a:solidFill>
                  <a:schemeClr val="tx2"/>
                </a:solidFill>
              </a:rPr>
              <a:t> CSI</a:t>
            </a:r>
            <a:r>
              <a:rPr lang="zh-CN" altLang="en-US" sz="1600" dirty="0">
                <a:solidFill>
                  <a:schemeClr val="tx2"/>
                </a:solidFill>
              </a:rPr>
              <a:t>有闭式最优解</a:t>
            </a:r>
            <a:r>
              <a:rPr lang="en-US" altLang="zh-CN" sz="1600" dirty="0">
                <a:solidFill>
                  <a:schemeClr val="tx2"/>
                </a:solidFill>
              </a:rPr>
              <a:t>; </a:t>
            </a:r>
            <a:r>
              <a:rPr lang="zh-CN" altLang="en-US" sz="1600" dirty="0">
                <a:solidFill>
                  <a:schemeClr val="tx2"/>
                </a:solidFill>
              </a:rPr>
              <a:t>信息受限后</a:t>
            </a:r>
            <a:r>
              <a:rPr lang="en-US" altLang="zh-CN" sz="1600" dirty="0">
                <a:solidFill>
                  <a:schemeClr val="tx2"/>
                </a:solidFill>
              </a:rPr>
              <a:t>, RL</a:t>
            </a:r>
            <a:r>
              <a:rPr lang="zh-CN" altLang="en-US" sz="1600" dirty="0">
                <a:solidFill>
                  <a:schemeClr val="tx2"/>
                </a:solidFill>
              </a:rPr>
              <a:t>是否能逼近该基准？</a:t>
            </a:r>
          </a:p>
        </p:txBody>
      </p:sp>
    </p:spTree>
    <p:extLst>
      <p:ext uri="{BB962C8B-B14F-4D97-AF65-F5344CB8AC3E}">
        <p14:creationId xmlns:p14="http://schemas.microsoft.com/office/powerpoint/2010/main" val="4088258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604266" y="520700"/>
            <a:ext cx="10978134" cy="288925"/>
            <a:chOff x="604266" y="520700"/>
            <a:chExt cx="10978134" cy="28892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20700"/>
              <a:ext cx="103233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· 展望与计划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page-title"/>
          <p:cNvGrpSpPr/>
          <p:nvPr/>
        </p:nvGrpSpPr>
        <p:grpSpPr>
          <a:xfrm>
            <a:off x="594360" y="1041400"/>
            <a:ext cx="4211089" cy="886599"/>
            <a:chOff x="594360" y="1041400"/>
            <a:chExt cx="4211089" cy="886599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041400"/>
              <a:ext cx="42110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计划实验：</a:t>
              </a:r>
              <a:r>
                <a:rPr lang="zh-CN" altLang="en-US" sz="3000" b="1" dirty="0">
                  <a:solidFill>
                    <a:schemeClr val="accent1"/>
                  </a:solidFill>
                </a:rPr>
                <a:t>考虑 过时</a:t>
              </a:r>
              <a:r>
                <a:rPr lang="en-US" altLang="zh-CN" sz="3000" b="1" dirty="0">
                  <a:solidFill>
                    <a:schemeClr val="accent1"/>
                  </a:solidFill>
                </a:rPr>
                <a:t>CSI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1651000"/>
              <a:ext cx="16158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信道数据已就绪</a:t>
              </a:r>
            </a:p>
          </p:txBody>
        </p:sp>
      </p:grpSp>
      <p:grpSp>
        <p:nvGrpSpPr>
          <p:cNvPr id="25" name="correlation-block"/>
          <p:cNvGrpSpPr/>
          <p:nvPr/>
        </p:nvGrpSpPr>
        <p:grpSpPr>
          <a:xfrm>
            <a:off x="609600" y="2209800"/>
            <a:ext cx="5334000" cy="1714500"/>
            <a:chOff x="609600" y="2209800"/>
            <a:chExt cx="5334000" cy="1714500"/>
          </a:xfrm>
        </p:grpSpPr>
        <p:sp>
          <p:nvSpPr>
            <p:cNvPr id="8" name="Rectangle 8"/>
            <p:cNvSpPr/>
            <p:nvPr/>
          </p:nvSpPr>
          <p:spPr>
            <a:xfrm>
              <a:off x="609600" y="2209800"/>
              <a:ext cx="53340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71538" y="2482850"/>
              <a:ext cx="200025" cy="187326"/>
              <a:chOff x="871538" y="2482850"/>
              <a:chExt cx="200025" cy="18732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71538" y="2571750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77788"/>
                    </a:lnTo>
                    <a:cubicBezTo>
                      <a:pt x="66675" y="83925"/>
                      <a:pt x="61700" y="88900"/>
                      <a:pt x="55563" y="88900"/>
                    </a:cubicBez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04888" y="2527300"/>
                <a:ext cx="666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3335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22238"/>
                    </a:lnTo>
                    <a:cubicBezTo>
                      <a:pt x="66675" y="128375"/>
                      <a:pt x="61700" y="133350"/>
                      <a:pt x="55563" y="133350"/>
                    </a:cubicBezTo>
                    <a:lnTo>
                      <a:pt x="11113" y="133350"/>
                    </a:lnTo>
                    <a:cubicBezTo>
                      <a:pt x="4975" y="133350"/>
                      <a:pt x="0" y="128375"/>
                      <a:pt x="0" y="12223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38213" y="2482850"/>
                <a:ext cx="66675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77801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66688"/>
                    </a:lnTo>
                    <a:cubicBezTo>
                      <a:pt x="66675" y="172825"/>
                      <a:pt x="61700" y="177801"/>
                      <a:pt x="55563" y="177801"/>
                    </a:cubicBezTo>
                    <a:lnTo>
                      <a:pt x="11113" y="177801"/>
                    </a:lnTo>
                    <a:cubicBezTo>
                      <a:pt x="4975" y="177801"/>
                      <a:pt x="0" y="172825"/>
                      <a:pt x="0" y="16668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2650" y="2660651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11580" y="2470150"/>
              <a:ext cx="2875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真实信道相关系数（P07 验证）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38200" y="28194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8" name="corr-30"/>
            <p:cNvGrpSpPr/>
            <p:nvPr/>
          </p:nvGrpSpPr>
          <p:grpSpPr>
            <a:xfrm>
              <a:off x="831342" y="2914650"/>
              <a:ext cx="3938778" cy="293370"/>
              <a:chOff x="831342" y="2914650"/>
              <a:chExt cx="3938778" cy="29337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31342" y="2940050"/>
                <a:ext cx="259438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30 km/h（相干时间 ≈ 7.6 ms）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8422" y="2914650"/>
                <a:ext cx="481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0.94</a:t>
                </a:r>
              </a:p>
            </p:txBody>
          </p:sp>
        </p:grpSp>
        <p:grpSp>
          <p:nvGrpSpPr>
            <p:cNvPr id="21" name="corr-120"/>
            <p:cNvGrpSpPr/>
            <p:nvPr/>
          </p:nvGrpSpPr>
          <p:grpSpPr>
            <a:xfrm>
              <a:off x="831342" y="3219450"/>
              <a:ext cx="3938778" cy="293370"/>
              <a:chOff x="831342" y="3219450"/>
              <a:chExt cx="3938778" cy="29337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831342" y="3244850"/>
                <a:ext cx="2508700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120 km/h</a:t>
                </a:r>
                <a:r>
                  <a:rPr lang="zh-CN" altLang="zh-CN" sz="1350" dirty="0">
                    <a:solidFill>
                      <a:schemeClr val="dk1"/>
                    </a:solidFill>
                  </a:rPr>
                  <a:t> （相干时间 ≈ </a:t>
                </a:r>
                <a:r>
                  <a:rPr lang="en-US" altLang="zh-CN" sz="1350" dirty="0">
                    <a:solidFill>
                      <a:schemeClr val="dk1"/>
                    </a:solidFill>
                  </a:rPr>
                  <a:t>1.9</a:t>
                </a:r>
                <a:r>
                  <a:rPr lang="zh-CN" altLang="zh-CN" sz="1350" dirty="0">
                    <a:solidFill>
                      <a:schemeClr val="dk1"/>
                    </a:solidFill>
                  </a:rPr>
                  <a:t> ms）</a:t>
                </a:r>
                <a:endPara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288422" y="3219450"/>
                <a:ext cx="481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0.32</a:t>
                </a:r>
              </a:p>
            </p:txBody>
          </p:sp>
        </p:grpSp>
        <p:grpSp>
          <p:nvGrpSpPr>
            <p:cNvPr id="24" name="corr-350"/>
            <p:cNvGrpSpPr/>
            <p:nvPr/>
          </p:nvGrpSpPr>
          <p:grpSpPr>
            <a:xfrm>
              <a:off x="831342" y="3524250"/>
              <a:ext cx="3938778" cy="293370"/>
              <a:chOff x="831342" y="3524250"/>
              <a:chExt cx="3938778" cy="2933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831342" y="3549650"/>
                <a:ext cx="2604880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350 km/h</a:t>
                </a:r>
                <a:r>
                  <a:rPr lang="zh-CN" altLang="zh-CN" sz="1350" dirty="0">
                    <a:solidFill>
                      <a:schemeClr val="dk1"/>
                    </a:solidFill>
                  </a:rPr>
                  <a:t> （相干时间 ≈ </a:t>
                </a:r>
                <a:r>
                  <a:rPr lang="en-US" altLang="zh-CN" sz="1350" dirty="0">
                    <a:solidFill>
                      <a:schemeClr val="dk1"/>
                    </a:solidFill>
                  </a:rPr>
                  <a:t>0.65</a:t>
                </a:r>
                <a:r>
                  <a:rPr lang="zh-CN" altLang="zh-CN" sz="1350" dirty="0">
                    <a:solidFill>
                      <a:schemeClr val="dk1"/>
                    </a:solidFill>
                  </a:rPr>
                  <a:t> ms）</a:t>
                </a:r>
                <a:endPara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288422" y="3524250"/>
                <a:ext cx="481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0.15</a:t>
                </a:r>
              </a:p>
            </p:txBody>
          </p:sp>
        </p:grpSp>
      </p:grpSp>
      <p:grpSp>
        <p:nvGrpSpPr>
          <p:cNvPr id="36" name="hypothesis-band"/>
          <p:cNvGrpSpPr/>
          <p:nvPr/>
        </p:nvGrpSpPr>
        <p:grpSpPr>
          <a:xfrm>
            <a:off x="594360" y="4135853"/>
            <a:ext cx="5257800" cy="1143000"/>
            <a:chOff x="6340946" y="2142728"/>
            <a:chExt cx="5257800" cy="1714500"/>
          </a:xfrm>
        </p:grpSpPr>
        <p:sp>
          <p:nvSpPr>
            <p:cNvPr id="26" name="Rectangle 26"/>
            <p:cNvSpPr/>
            <p:nvPr/>
          </p:nvSpPr>
          <p:spPr>
            <a:xfrm>
              <a:off x="6340946" y="2142728"/>
              <a:ext cx="52578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586538" y="2471738"/>
              <a:ext cx="200026" cy="200026"/>
              <a:chOff x="6586538" y="2471738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586538" y="24717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26276" y="2516187"/>
                <a:ext cx="120548" cy="155577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60992" y="26273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871582" y="2387889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待验证不等式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41770" y="2926419"/>
              <a:ext cx="317751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均匀 &lt; 因果策略 ≤ 注水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553200" y="34671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5" name="delay-prediction"/>
          <p:cNvGrpSpPr/>
          <p:nvPr/>
        </p:nvGrpSpPr>
        <p:grpSpPr>
          <a:xfrm>
            <a:off x="6078531" y="2209800"/>
            <a:ext cx="5025467" cy="1697130"/>
            <a:chOff x="609600" y="4076700"/>
            <a:chExt cx="5334000" cy="1143000"/>
          </a:xfrm>
        </p:grpSpPr>
        <p:sp>
          <p:nvSpPr>
            <p:cNvPr id="37" name="Rectangle 37"/>
            <p:cNvSpPr/>
            <p:nvPr/>
          </p:nvSpPr>
          <p:spPr>
            <a:xfrm>
              <a:off x="609600" y="4076700"/>
              <a:ext cx="533400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59479" y="4334946"/>
              <a:ext cx="224134" cy="192560"/>
              <a:chOff x="859479" y="4334946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71550" y="44053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59479" y="43349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71550" y="44831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211580" y="4337050"/>
              <a:ext cx="23290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理论预测：1 ms 过时 CSI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1342" y="4635500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30 km/h 仍可用；中高速可能反转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2104" y="4857750"/>
              <a:ext cx="2776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机制：旧 CSI 失相关导致对错方向发射</a:t>
              </a:r>
            </a:p>
          </p:txBody>
        </p:sp>
      </p:grpSp>
      <p:grpSp>
        <p:nvGrpSpPr>
          <p:cNvPr id="55" name="status-banner"/>
          <p:cNvGrpSpPr/>
          <p:nvPr/>
        </p:nvGrpSpPr>
        <p:grpSpPr>
          <a:xfrm>
            <a:off x="609600" y="5372100"/>
            <a:ext cx="10972800" cy="381000"/>
            <a:chOff x="609600" y="5372100"/>
            <a:chExt cx="10972800" cy="381000"/>
          </a:xfrm>
        </p:grpSpPr>
        <p:sp>
          <p:nvSpPr>
            <p:cNvPr id="53" name="Rectangle 53"/>
            <p:cNvSpPr/>
            <p:nvPr/>
          </p:nvSpPr>
          <p:spPr>
            <a:xfrm>
              <a:off x="609600" y="5372100"/>
              <a:ext cx="10972800" cy="381000"/>
            </a:xfrm>
            <a:prstGeom prst="rect">
              <a:avLst/>
            </a:prstGeom>
            <a:solidFill>
              <a:srgbClr val="FFF3E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032935" y="5454650"/>
              <a:ext cx="412613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本页实验内容尚未执行；信道数据、baselines 已</a:t>
              </a:r>
              <a:r>
                <a:rPr lang="zh-CN" alt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完成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8" name="notes-bar"/>
          <p:cNvGrpSpPr/>
          <p:nvPr/>
        </p:nvGrpSpPr>
        <p:grpSpPr>
          <a:xfrm>
            <a:off x="832866" y="5988050"/>
            <a:ext cx="5077168" cy="433959"/>
            <a:chOff x="832866" y="5988050"/>
            <a:chExt cx="5077168" cy="433959"/>
          </a:xfrm>
        </p:grpSpPr>
        <p:sp>
          <p:nvSpPr>
            <p:cNvPr id="56" name="TextBox 56"/>
            <p:cNvSpPr txBox="1"/>
            <p:nvPr/>
          </p:nvSpPr>
          <p:spPr>
            <a:xfrm>
              <a:off x="832866" y="5988050"/>
              <a:ext cx="5077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注水上界（+10~21%）已由 baselines 验证（P11），为本项目唯一真实实验数据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2866" y="6216650"/>
              <a:ext cx="44844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控制实验：固定 d⊥ = 20 m 重跑 350 km/h，拆分几何摆幅与多普勒贡献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604266" y="520700"/>
            <a:ext cx="10978134" cy="288925"/>
            <a:chOff x="604266" y="520700"/>
            <a:chExt cx="10978134" cy="28892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520700"/>
              <a:ext cx="62837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· 结论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8" name="page-title"/>
          <p:cNvGrpSpPr/>
          <p:nvPr/>
        </p:nvGrpSpPr>
        <p:grpSpPr>
          <a:xfrm>
            <a:off x="594360" y="876300"/>
            <a:ext cx="7051548" cy="1088644"/>
            <a:chOff x="594360" y="876300"/>
            <a:chExt cx="7051548" cy="1088644"/>
          </a:xfrm>
        </p:grpSpPr>
        <p:sp>
          <p:nvSpPr>
            <p:cNvPr id="5" name="Rectangle 5"/>
            <p:cNvSpPr/>
            <p:nvPr/>
          </p:nvSpPr>
          <p:spPr>
            <a:xfrm>
              <a:off x="609600" y="876300"/>
              <a:ext cx="4572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4360" y="104140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结论：从原理到结果，一条证据链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1612900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三张图回答三个问题：水怎么倒、为什么高速更难、到底赚了多少</a:t>
              </a:r>
            </a:p>
          </p:txBody>
        </p:sp>
      </p:grpSp>
      <p:grpSp>
        <p:nvGrpSpPr>
          <p:cNvPr id="24" name="evidence-cards"/>
          <p:cNvGrpSpPr/>
          <p:nvPr/>
        </p:nvGrpSpPr>
        <p:grpSpPr>
          <a:xfrm>
            <a:off x="453376" y="2047875"/>
            <a:ext cx="11248104" cy="3187700"/>
            <a:chOff x="609599" y="2057400"/>
            <a:chExt cx="10972801" cy="2835658"/>
          </a:xfrm>
        </p:grpSpPr>
        <p:sp>
          <p:nvSpPr>
            <p:cNvPr id="9" name="Rectangle 9"/>
            <p:cNvSpPr/>
            <p:nvPr/>
          </p:nvSpPr>
          <p:spPr>
            <a:xfrm>
              <a:off x="609599" y="2057400"/>
              <a:ext cx="3575438" cy="283565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343400" y="2057400"/>
              <a:ext cx="3505200" cy="2724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077200" y="2057400"/>
              <a:ext cx="3505200" cy="2724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190750"/>
              <a:ext cx="3200400" cy="171450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755142" y="4006850"/>
              <a:ext cx="2356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原理｜把功率当水倒进地形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666" y="42926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深衰落断电，好时隙多分功率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666" y="4502150"/>
              <a:ext cx="23641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内点时隙水面齐平（120 km/h 实测）</a:t>
              </a:r>
            </a:p>
          </p:txBody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95800" y="2198434"/>
              <a:ext cx="3200400" cy="1699133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4488942" y="4006850"/>
              <a:ext cx="2356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机制｜速度越快，信道越碎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90466" y="4292600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 20 ms 窗口：起伏明显变密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90466" y="4502150"/>
              <a:ext cx="2335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零功率时隙 24.4% → 26.5% → 39.8%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9600" y="2200835"/>
              <a:ext cx="3200400" cy="1694329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8222742" y="4006850"/>
              <a:ext cx="19932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结果｜增益随速度抬升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22742" y="4254500"/>
              <a:ext cx="2351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+9.9% / +11.5% / +21.0%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24266" y="4502150"/>
              <a:ext cx="2547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 条测试轨迹均值；速度越高空间越大</a:t>
              </a:r>
            </a:p>
          </p:txBody>
        </p:sp>
      </p:grpSp>
      <p:grpSp>
        <p:nvGrpSpPr>
          <p:cNvPr id="28" name="closing-band"/>
          <p:cNvGrpSpPr/>
          <p:nvPr/>
        </p:nvGrpSpPr>
        <p:grpSpPr>
          <a:xfrm>
            <a:off x="594360" y="5435600"/>
            <a:ext cx="10972800" cy="838200"/>
            <a:chOff x="609600" y="4991100"/>
            <a:chExt cx="10972800" cy="838200"/>
          </a:xfrm>
        </p:grpSpPr>
        <p:sp>
          <p:nvSpPr>
            <p:cNvPr id="25" name="Rectangle 25"/>
            <p:cNvSpPr/>
            <p:nvPr/>
          </p:nvSpPr>
          <p:spPr>
            <a:xfrm>
              <a:off x="609600" y="4991100"/>
              <a:ext cx="109728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15538" y="5245100"/>
              <a:ext cx="4760920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注水上界已验证 · </a:t>
              </a:r>
              <a:r>
                <a:rPr lang="en-US" alt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RL</a:t>
              </a:r>
              <a:r>
                <a:rPr lang="zh-CN" alt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仍待补实验</a:t>
              </a:r>
            </a:p>
          </p:txBody>
        </p:sp>
      </p:grpSp>
      <p:grpSp>
        <p:nvGrpSpPr>
          <p:cNvPr id="30" name="closing-note"/>
          <p:cNvGrpSpPr/>
          <p:nvPr/>
        </p:nvGrpSpPr>
        <p:grpSpPr>
          <a:xfrm>
            <a:off x="5396865" y="6385433"/>
            <a:ext cx="1285875" cy="264033"/>
            <a:chOff x="5396865" y="6385433"/>
            <a:chExt cx="1285875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5396865" y="6385433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谢谢，欢迎讨论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ower-control-hsr">
  <a:themeElements>
    <a:clrScheme name="power-control-hsr">
      <a:dk1>
        <a:srgbClr val="2B2F36"/>
      </a:dk1>
      <a:lt1>
        <a:srgbClr val="FFFFFF"/>
      </a:lt1>
      <a:dk2>
        <a:srgbClr val="1F497D"/>
      </a:dk2>
      <a:lt2>
        <a:srgbClr val="F4F6F8"/>
      </a:lt2>
      <a:accent1>
        <a:srgbClr val="1A3A5C"/>
      </a:accent1>
      <a:accent2>
        <a:srgbClr val="1565C0"/>
      </a:accent2>
      <a:accent3>
        <a:srgbClr val="E8825A"/>
      </a:accent3>
      <a:accent4>
        <a:srgbClr val="1A3A5C"/>
      </a:accent4>
      <a:accent5>
        <a:srgbClr val="5C6672"/>
      </a:accent5>
      <a:accent6>
        <a:srgbClr val="D9DEE4"/>
      </a:accent6>
      <a:hlink>
        <a:srgbClr val="1565C0"/>
      </a:hlink>
      <a:folHlink>
        <a:srgbClr val="E8825A"/>
      </a:folHlink>
    </a:clrScheme>
    <a:fontScheme name="power-control-hs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ower-control-hs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ower-control-hsr">
  <a:themeElements>
    <a:clrScheme name="power-control-hsr">
      <a:dk1>
        <a:srgbClr val="2B2F36"/>
      </a:dk1>
      <a:lt1>
        <a:srgbClr val="FFFFFF"/>
      </a:lt1>
      <a:dk2>
        <a:srgbClr val="1F497D"/>
      </a:dk2>
      <a:lt2>
        <a:srgbClr val="F4F6F8"/>
      </a:lt2>
      <a:accent1>
        <a:srgbClr val="1A3A5C"/>
      </a:accent1>
      <a:accent2>
        <a:srgbClr val="1565C0"/>
      </a:accent2>
      <a:accent3>
        <a:srgbClr val="E8825A"/>
      </a:accent3>
      <a:accent4>
        <a:srgbClr val="1A3A5C"/>
      </a:accent4>
      <a:accent5>
        <a:srgbClr val="5C6672"/>
      </a:accent5>
      <a:accent6>
        <a:srgbClr val="D9DEE4"/>
      </a:accent6>
      <a:hlink>
        <a:srgbClr val="1565C0"/>
      </a:hlink>
      <a:folHlink>
        <a:srgbClr val="E8825A"/>
      </a:folHlink>
    </a:clrScheme>
    <a:fontScheme name="power-control-hs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ower-control-hs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4465</Words>
  <Application>Microsoft Office PowerPoint</Application>
  <PresentationFormat>宽屏</PresentationFormat>
  <Paragraphs>312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Cambria Math</vt:lpstr>
      <vt:lpstr>Consolas</vt:lpstr>
      <vt:lpstr>power-control-hsr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3322346701@QQ.COM</cp:lastModifiedBy>
  <cp:revision>36</cp:revision>
  <dcterms:created xsi:type="dcterms:W3CDTF">2026-10-25T04:17:39Z</dcterms:created>
  <dcterms:modified xsi:type="dcterms:W3CDTF">2026-10-26T12:07:01Z</dcterms:modified>
  <cp:category/>
  <cp:contentStatus/>
  <dc:language>zh-CN</dc:language>
</cp:coreProperties>
</file>